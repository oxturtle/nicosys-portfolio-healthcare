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ontserrat Bold" charset="1" panose="00000800000000000000"/>
      <p:regular r:id="rId16"/>
    </p:embeddedFont>
    <p:embeddedFont>
      <p:font typeface="Poppins" charset="1" panose="00000500000000000000"/>
      <p:regular r:id="rId17"/>
    </p:embeddedFont>
    <p:embeddedFont>
      <p:font typeface="Poppins Bold" charset="1" panose="00000800000000000000"/>
      <p:regular r:id="rId18"/>
    </p:embeddedFont>
    <p:embeddedFont>
      <p:font typeface="Poppins Italics"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https://github.com/oxturtle/nicosys-portfolio-ecom" TargetMode="External" Type="http://schemas.openxmlformats.org/officeDocument/2006/relationships/hyperlink"/><Relationship Id="rId9" Target="https://www.linkedin.com/in/nrafael/"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false" flipV="false" rot="0">
            <a:off x="9597130" y="5213644"/>
            <a:ext cx="4369593" cy="5073356"/>
          </a:xfrm>
          <a:custGeom>
            <a:avLst/>
            <a:gdLst/>
            <a:ahLst/>
            <a:cxnLst/>
            <a:rect r="r" b="b" t="t" l="l"/>
            <a:pathLst>
              <a:path h="5073356" w="4369593">
                <a:moveTo>
                  <a:pt x="0" y="0"/>
                </a:moveTo>
                <a:lnTo>
                  <a:pt x="4369593" y="0"/>
                </a:lnTo>
                <a:lnTo>
                  <a:pt x="4369593" y="5073356"/>
                </a:lnTo>
                <a:lnTo>
                  <a:pt x="0" y="5073356"/>
                </a:lnTo>
                <a:lnTo>
                  <a:pt x="0" y="0"/>
                </a:lnTo>
                <a:close/>
              </a:path>
            </a:pathLst>
          </a:custGeom>
          <a:blipFill>
            <a:blip r:embed="rId2">
              <a:extLst>
                <a:ext uri="{96DAC541-7B7A-43D3-8B79-37D633B846F1}">
                  <asvg:svgBlip xmlns:asvg="http://schemas.microsoft.com/office/drawing/2016/SVG/main" r:embed="rId3"/>
                </a:ext>
              </a:extLst>
            </a:blip>
            <a:stretch>
              <a:fillRect l="-8174" t="0" r="0" b="-6313"/>
            </a:stretch>
          </a:blipFill>
        </p:spPr>
      </p:sp>
      <p:grpSp>
        <p:nvGrpSpPr>
          <p:cNvPr name="Group 3" id="3"/>
          <p:cNvGrpSpPr/>
          <p:nvPr/>
        </p:nvGrpSpPr>
        <p:grpSpPr>
          <a:xfrm rot="0">
            <a:off x="17519831" y="-691855"/>
            <a:ext cx="1676063" cy="11497700"/>
            <a:chOff x="0" y="0"/>
            <a:chExt cx="441432" cy="3028201"/>
          </a:xfrm>
        </p:grpSpPr>
        <p:sp>
          <p:nvSpPr>
            <p:cNvPr name="Freeform 4" id="4"/>
            <p:cNvSpPr/>
            <p:nvPr/>
          </p:nvSpPr>
          <p:spPr>
            <a:xfrm flipH="false" flipV="false" rot="0">
              <a:off x="0" y="0"/>
              <a:ext cx="441432" cy="3028201"/>
            </a:xfrm>
            <a:custGeom>
              <a:avLst/>
              <a:gdLst/>
              <a:ahLst/>
              <a:cxnLst/>
              <a:rect r="r" b="b" t="t" l="l"/>
              <a:pathLst>
                <a:path h="3028201" w="441432">
                  <a:moveTo>
                    <a:pt x="0" y="0"/>
                  </a:moveTo>
                  <a:lnTo>
                    <a:pt x="441432" y="0"/>
                  </a:lnTo>
                  <a:lnTo>
                    <a:pt x="441432" y="3028201"/>
                  </a:lnTo>
                  <a:lnTo>
                    <a:pt x="0" y="3028201"/>
                  </a:lnTo>
                  <a:close/>
                </a:path>
              </a:pathLst>
            </a:custGeom>
            <a:solidFill>
              <a:srgbClr val="EFF1E8"/>
            </a:solidFill>
          </p:spPr>
        </p:sp>
        <p:sp>
          <p:nvSpPr>
            <p:cNvPr name="TextBox 5" id="5"/>
            <p:cNvSpPr txBox="true"/>
            <p:nvPr/>
          </p:nvSpPr>
          <p:spPr>
            <a:xfrm>
              <a:off x="0" y="-38100"/>
              <a:ext cx="441432" cy="3066301"/>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flipH="true" flipV="true">
            <a:off x="1047750" y="8855456"/>
            <a:ext cx="0" cy="402844"/>
          </a:xfrm>
          <a:prstGeom prst="line">
            <a:avLst/>
          </a:prstGeom>
          <a:ln cap="flat" w="38100">
            <a:solidFill>
              <a:srgbClr val="EFF1E8"/>
            </a:solidFill>
            <a:prstDash val="solid"/>
            <a:headEnd type="none" len="sm" w="sm"/>
            <a:tailEnd type="none" len="sm" w="sm"/>
          </a:ln>
        </p:spPr>
      </p:sp>
      <p:sp>
        <p:nvSpPr>
          <p:cNvPr name="AutoShape 7" id="7"/>
          <p:cNvSpPr/>
          <p:nvPr/>
        </p:nvSpPr>
        <p:spPr>
          <a:xfrm flipH="true" flipV="true">
            <a:off x="1191738" y="8855456"/>
            <a:ext cx="0" cy="402844"/>
          </a:xfrm>
          <a:prstGeom prst="line">
            <a:avLst/>
          </a:prstGeom>
          <a:ln cap="flat" w="38100">
            <a:solidFill>
              <a:srgbClr val="EFF1E8"/>
            </a:solidFill>
            <a:prstDash val="solid"/>
            <a:headEnd type="none" len="sm" w="sm"/>
            <a:tailEnd type="none" len="sm" w="sm"/>
          </a:ln>
        </p:spPr>
      </p:sp>
      <p:sp>
        <p:nvSpPr>
          <p:cNvPr name="AutoShape 8" id="8"/>
          <p:cNvSpPr/>
          <p:nvPr/>
        </p:nvSpPr>
        <p:spPr>
          <a:xfrm flipH="true" flipV="true">
            <a:off x="1335726" y="8855456"/>
            <a:ext cx="0" cy="402844"/>
          </a:xfrm>
          <a:prstGeom prst="line">
            <a:avLst/>
          </a:prstGeom>
          <a:ln cap="flat" w="38100">
            <a:solidFill>
              <a:srgbClr val="EFF1E8"/>
            </a:solidFill>
            <a:prstDash val="solid"/>
            <a:headEnd type="none" len="sm" w="sm"/>
            <a:tailEnd type="none" len="sm" w="sm"/>
          </a:ln>
        </p:spPr>
      </p:sp>
      <p:sp>
        <p:nvSpPr>
          <p:cNvPr name="AutoShape 9" id="9"/>
          <p:cNvSpPr/>
          <p:nvPr/>
        </p:nvSpPr>
        <p:spPr>
          <a:xfrm flipH="true" flipV="true">
            <a:off x="16952274" y="8855456"/>
            <a:ext cx="0" cy="402844"/>
          </a:xfrm>
          <a:prstGeom prst="line">
            <a:avLst/>
          </a:prstGeom>
          <a:ln cap="flat" w="38100">
            <a:solidFill>
              <a:srgbClr val="EFF1E8"/>
            </a:solidFill>
            <a:prstDash val="solid"/>
            <a:headEnd type="none" len="sm" w="sm"/>
            <a:tailEnd type="none" len="sm" w="sm"/>
          </a:ln>
        </p:spPr>
      </p:sp>
      <p:sp>
        <p:nvSpPr>
          <p:cNvPr name="AutoShape 10" id="10"/>
          <p:cNvSpPr/>
          <p:nvPr/>
        </p:nvSpPr>
        <p:spPr>
          <a:xfrm flipV="true">
            <a:off x="17096262" y="8855456"/>
            <a:ext cx="0" cy="402844"/>
          </a:xfrm>
          <a:prstGeom prst="line">
            <a:avLst/>
          </a:prstGeom>
          <a:ln cap="flat" w="38100">
            <a:solidFill>
              <a:srgbClr val="EFF1E8"/>
            </a:solidFill>
            <a:prstDash val="solid"/>
            <a:headEnd type="none" len="sm" w="sm"/>
            <a:tailEnd type="none" len="sm" w="sm"/>
          </a:ln>
        </p:spPr>
      </p:sp>
      <p:sp>
        <p:nvSpPr>
          <p:cNvPr name="AutoShape 11" id="11"/>
          <p:cNvSpPr/>
          <p:nvPr/>
        </p:nvSpPr>
        <p:spPr>
          <a:xfrm flipV="true">
            <a:off x="17240250" y="8855456"/>
            <a:ext cx="0" cy="402844"/>
          </a:xfrm>
          <a:prstGeom prst="line">
            <a:avLst/>
          </a:prstGeom>
          <a:ln cap="flat" w="38100">
            <a:solidFill>
              <a:srgbClr val="EFF1E8"/>
            </a:solidFill>
            <a:prstDash val="solid"/>
            <a:headEnd type="none" len="sm" w="sm"/>
            <a:tailEnd type="none" len="sm" w="sm"/>
          </a:ln>
        </p:spPr>
      </p:sp>
      <p:sp>
        <p:nvSpPr>
          <p:cNvPr name="Freeform 12" id="12"/>
          <p:cNvSpPr/>
          <p:nvPr/>
        </p:nvSpPr>
        <p:spPr>
          <a:xfrm flipH="false" flipV="false" rot="0">
            <a:off x="5655312" y="5585206"/>
            <a:ext cx="579210" cy="579210"/>
          </a:xfrm>
          <a:custGeom>
            <a:avLst/>
            <a:gdLst/>
            <a:ahLst/>
            <a:cxnLst/>
            <a:rect r="r" b="b" t="t" l="l"/>
            <a:pathLst>
              <a:path h="579210" w="579210">
                <a:moveTo>
                  <a:pt x="0" y="0"/>
                </a:moveTo>
                <a:lnTo>
                  <a:pt x="579210" y="0"/>
                </a:lnTo>
                <a:lnTo>
                  <a:pt x="579210" y="579210"/>
                </a:lnTo>
                <a:lnTo>
                  <a:pt x="0" y="5792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0754395" y="0"/>
            <a:ext cx="6765437" cy="7776364"/>
          </a:xfrm>
          <a:custGeom>
            <a:avLst/>
            <a:gdLst/>
            <a:ahLst/>
            <a:cxnLst/>
            <a:rect r="r" b="b" t="t" l="l"/>
            <a:pathLst>
              <a:path h="7776364" w="6765437">
                <a:moveTo>
                  <a:pt x="0" y="0"/>
                </a:moveTo>
                <a:lnTo>
                  <a:pt x="6765436" y="0"/>
                </a:lnTo>
                <a:lnTo>
                  <a:pt x="6765436" y="7776364"/>
                </a:lnTo>
                <a:lnTo>
                  <a:pt x="0" y="77763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028700" y="2619468"/>
            <a:ext cx="9253225" cy="3023250"/>
          </a:xfrm>
          <a:prstGeom prst="rect">
            <a:avLst/>
          </a:prstGeom>
        </p:spPr>
        <p:txBody>
          <a:bodyPr anchor="t" rtlCol="false" tIns="0" lIns="0" bIns="0" rIns="0">
            <a:spAutoFit/>
          </a:bodyPr>
          <a:lstStyle/>
          <a:p>
            <a:pPr algn="l">
              <a:lnSpc>
                <a:spcPts val="11760"/>
              </a:lnSpc>
            </a:pPr>
            <a:r>
              <a:rPr lang="en-US" sz="11200" b="true">
                <a:solidFill>
                  <a:srgbClr val="EFF1E8"/>
                </a:solidFill>
                <a:latin typeface="Montserrat Bold"/>
                <a:ea typeface="Montserrat Bold"/>
                <a:cs typeface="Montserrat Bold"/>
                <a:sym typeface="Montserrat Bold"/>
              </a:rPr>
              <a:t>Emergency Department</a:t>
            </a:r>
          </a:p>
        </p:txBody>
      </p:sp>
      <p:sp>
        <p:nvSpPr>
          <p:cNvPr name="TextBox 15" id="15"/>
          <p:cNvSpPr txBox="true"/>
          <p:nvPr/>
        </p:nvSpPr>
        <p:spPr>
          <a:xfrm rot="0">
            <a:off x="1191738" y="971550"/>
            <a:ext cx="1870631" cy="746760"/>
          </a:xfrm>
          <a:prstGeom prst="rect">
            <a:avLst/>
          </a:prstGeom>
        </p:spPr>
        <p:txBody>
          <a:bodyPr anchor="t" rtlCol="false" tIns="0" lIns="0" bIns="0" rIns="0">
            <a:spAutoFit/>
          </a:bodyPr>
          <a:lstStyle/>
          <a:p>
            <a:pPr algn="just">
              <a:lnSpc>
                <a:spcPts val="2939"/>
              </a:lnSpc>
            </a:pPr>
            <a:r>
              <a:rPr lang="en-US" sz="2099">
                <a:solidFill>
                  <a:srgbClr val="EFF1E8"/>
                </a:solidFill>
                <a:latin typeface="Poppins"/>
                <a:ea typeface="Poppins"/>
                <a:cs typeface="Poppins"/>
                <a:sym typeface="Poppins"/>
              </a:rPr>
              <a:t>Nico</a:t>
            </a:r>
          </a:p>
          <a:p>
            <a:pPr algn="just">
              <a:lnSpc>
                <a:spcPts val="2939"/>
              </a:lnSpc>
              <a:spcBef>
                <a:spcPct val="0"/>
              </a:spcBef>
            </a:pPr>
            <a:r>
              <a:rPr lang="en-US" sz="2099">
                <a:solidFill>
                  <a:srgbClr val="EFF1E8"/>
                </a:solidFill>
                <a:latin typeface="Poppins"/>
                <a:ea typeface="Poppins"/>
                <a:cs typeface="Poppins"/>
                <a:sym typeface="Poppins"/>
              </a:rPr>
              <a:t>Rafael</a:t>
            </a:r>
          </a:p>
        </p:txBody>
      </p:sp>
      <p:sp>
        <p:nvSpPr>
          <p:cNvPr name="TextBox 16" id="16"/>
          <p:cNvSpPr txBox="true"/>
          <p:nvPr/>
        </p:nvSpPr>
        <p:spPr>
          <a:xfrm rot="0">
            <a:off x="1028700" y="5547468"/>
            <a:ext cx="7880342" cy="559436"/>
          </a:xfrm>
          <a:prstGeom prst="rect">
            <a:avLst/>
          </a:prstGeom>
        </p:spPr>
        <p:txBody>
          <a:bodyPr anchor="t" rtlCol="false" tIns="0" lIns="0" bIns="0" rIns="0">
            <a:spAutoFit/>
          </a:bodyPr>
          <a:lstStyle/>
          <a:p>
            <a:pPr algn="l">
              <a:lnSpc>
                <a:spcPts val="4339"/>
              </a:lnSpc>
              <a:spcBef>
                <a:spcPct val="0"/>
              </a:spcBef>
            </a:pPr>
            <a:r>
              <a:rPr lang="en-US" sz="3099" spc="350">
                <a:solidFill>
                  <a:srgbClr val="EFF1E8"/>
                </a:solidFill>
                <a:latin typeface="Poppins"/>
                <a:ea typeface="Poppins"/>
                <a:cs typeface="Poppins"/>
                <a:sym typeface="Poppins"/>
              </a:rPr>
              <a:t>Wait-time analysis </a:t>
            </a:r>
          </a:p>
        </p:txBody>
      </p:sp>
      <p:sp>
        <p:nvSpPr>
          <p:cNvPr name="TextBox 17" id="17"/>
          <p:cNvSpPr txBox="true"/>
          <p:nvPr/>
        </p:nvSpPr>
        <p:spPr>
          <a:xfrm rot="0">
            <a:off x="1028700" y="6850216"/>
            <a:ext cx="7471831" cy="1063625"/>
          </a:xfrm>
          <a:prstGeom prst="rect">
            <a:avLst/>
          </a:prstGeom>
        </p:spPr>
        <p:txBody>
          <a:bodyPr anchor="t" rtlCol="false" tIns="0" lIns="0" bIns="0" rIns="0">
            <a:spAutoFit/>
          </a:bodyPr>
          <a:lstStyle/>
          <a:p>
            <a:pPr algn="just">
              <a:lnSpc>
                <a:spcPts val="2799"/>
              </a:lnSpc>
              <a:spcBef>
                <a:spcPct val="0"/>
              </a:spcBef>
            </a:pPr>
            <a:r>
              <a:rPr lang="en-US" sz="1999">
                <a:solidFill>
                  <a:srgbClr val="EFF1E8"/>
                </a:solidFill>
                <a:latin typeface="Poppins"/>
                <a:ea typeface="Poppins"/>
                <a:cs typeface="Poppins"/>
                <a:sym typeface="Poppins"/>
              </a:rPr>
              <a:t>A healthcare analytics investigation into ER wait times, using synthetic datasets modeled after Las Vegas hospitals.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true" flipV="true" rot="0">
            <a:off x="15974720" y="1028700"/>
            <a:ext cx="1284580" cy="1284580"/>
          </a:xfrm>
          <a:custGeom>
            <a:avLst/>
            <a:gdLst/>
            <a:ahLst/>
            <a:cxnLst/>
            <a:rect r="r" b="b" t="t" l="l"/>
            <a:pathLst>
              <a:path h="1284580" w="1284580">
                <a:moveTo>
                  <a:pt x="1284580" y="1284580"/>
                </a:moveTo>
                <a:lnTo>
                  <a:pt x="0" y="1284580"/>
                </a:lnTo>
                <a:lnTo>
                  <a:pt x="0" y="0"/>
                </a:lnTo>
                <a:lnTo>
                  <a:pt x="1284580" y="0"/>
                </a:lnTo>
                <a:lnTo>
                  <a:pt x="1284580" y="128458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965535"/>
            <a:ext cx="7375025" cy="4978142"/>
          </a:xfrm>
          <a:custGeom>
            <a:avLst/>
            <a:gdLst/>
            <a:ahLst/>
            <a:cxnLst/>
            <a:rect r="r" b="b" t="t" l="l"/>
            <a:pathLst>
              <a:path h="4978142" w="7375025">
                <a:moveTo>
                  <a:pt x="0" y="0"/>
                </a:moveTo>
                <a:lnTo>
                  <a:pt x="7375025" y="0"/>
                </a:lnTo>
                <a:lnTo>
                  <a:pt x="7375025" y="4978142"/>
                </a:lnTo>
                <a:lnTo>
                  <a:pt x="0" y="4978142"/>
                </a:lnTo>
                <a:lnTo>
                  <a:pt x="0" y="0"/>
                </a:lnTo>
                <a:close/>
              </a:path>
            </a:pathLst>
          </a:custGeom>
          <a:blipFill>
            <a:blip r:embed="rId4"/>
            <a:stretch>
              <a:fillRect l="0" t="0" r="0" b="0"/>
            </a:stretch>
          </a:blipFill>
        </p:spPr>
      </p:sp>
      <p:sp>
        <p:nvSpPr>
          <p:cNvPr name="TextBox 4" id="4"/>
          <p:cNvSpPr txBox="true"/>
          <p:nvPr/>
        </p:nvSpPr>
        <p:spPr>
          <a:xfrm rot="0">
            <a:off x="1028700" y="1123950"/>
            <a:ext cx="9346453" cy="1245235"/>
          </a:xfrm>
          <a:prstGeom prst="rect">
            <a:avLst/>
          </a:prstGeom>
        </p:spPr>
        <p:txBody>
          <a:bodyPr anchor="t" rtlCol="false" tIns="0" lIns="0" bIns="0" rIns="0">
            <a:spAutoFit/>
          </a:bodyPr>
          <a:lstStyle/>
          <a:p>
            <a:pPr algn="l">
              <a:lnSpc>
                <a:spcPts val="9679"/>
              </a:lnSpc>
            </a:pPr>
            <a:r>
              <a:rPr lang="en-US" sz="8799" b="true">
                <a:solidFill>
                  <a:srgbClr val="EFF1E8"/>
                </a:solidFill>
                <a:latin typeface="Montserrat Bold"/>
                <a:ea typeface="Montserrat Bold"/>
                <a:cs typeface="Montserrat Bold"/>
                <a:sym typeface="Montserrat Bold"/>
              </a:rPr>
              <a:t>Problem &amp; Goal</a:t>
            </a:r>
          </a:p>
        </p:txBody>
      </p:sp>
      <p:sp>
        <p:nvSpPr>
          <p:cNvPr name="TextBox 5" id="5"/>
          <p:cNvSpPr txBox="true"/>
          <p:nvPr/>
        </p:nvSpPr>
        <p:spPr>
          <a:xfrm rot="0">
            <a:off x="9144000" y="3429431"/>
            <a:ext cx="6574226" cy="5078095"/>
          </a:xfrm>
          <a:prstGeom prst="rect">
            <a:avLst/>
          </a:prstGeom>
        </p:spPr>
        <p:txBody>
          <a:bodyPr anchor="t" rtlCol="false" tIns="0" lIns="0" bIns="0" rIns="0">
            <a:spAutoFit/>
          </a:bodyPr>
          <a:lstStyle/>
          <a:p>
            <a:pPr algn="just">
              <a:lnSpc>
                <a:spcPts val="3079"/>
              </a:lnSpc>
              <a:spcBef>
                <a:spcPct val="0"/>
              </a:spcBef>
            </a:pPr>
            <a:r>
              <a:rPr lang="en-US" sz="2199">
                <a:solidFill>
                  <a:srgbClr val="EFF1E8"/>
                </a:solidFill>
                <a:latin typeface="Poppins"/>
                <a:ea typeface="Poppins"/>
                <a:cs typeface="Poppins"/>
                <a:sym typeface="Poppins"/>
              </a:rPr>
              <a:t>Leadership at the Valley Regional Medical Center has requested to </a:t>
            </a:r>
            <a:r>
              <a:rPr lang="en-US" b="true" sz="2199">
                <a:solidFill>
                  <a:srgbClr val="EFF1E8"/>
                </a:solidFill>
                <a:latin typeface="Poppins Bold"/>
                <a:ea typeface="Poppins Bold"/>
                <a:cs typeface="Poppins Bold"/>
                <a:sym typeface="Poppins Bold"/>
              </a:rPr>
              <a:t>investigate and present findings regarding extensive wait-times in their Emergency Department.</a:t>
            </a:r>
          </a:p>
          <a:p>
            <a:pPr algn="just">
              <a:lnSpc>
                <a:spcPts val="3079"/>
              </a:lnSpc>
              <a:spcBef>
                <a:spcPct val="0"/>
              </a:spcBef>
            </a:pPr>
          </a:p>
          <a:p>
            <a:pPr algn="just">
              <a:lnSpc>
                <a:spcPts val="3079"/>
              </a:lnSpc>
              <a:spcBef>
                <a:spcPct val="0"/>
              </a:spcBef>
            </a:pPr>
            <a:r>
              <a:rPr lang="en-US" sz="2199">
                <a:solidFill>
                  <a:srgbClr val="EFF1E8"/>
                </a:solidFill>
                <a:latin typeface="Poppins"/>
                <a:ea typeface="Poppins"/>
                <a:cs typeface="Poppins"/>
                <a:sym typeface="Poppins"/>
              </a:rPr>
              <a:t>The goal is to </a:t>
            </a:r>
            <a:r>
              <a:rPr lang="en-US" b="true" sz="2199">
                <a:solidFill>
                  <a:srgbClr val="EFF1E8"/>
                </a:solidFill>
                <a:latin typeface="Poppins Bold"/>
                <a:ea typeface="Poppins Bold"/>
                <a:cs typeface="Poppins Bold"/>
                <a:sym typeface="Poppins Bold"/>
              </a:rPr>
              <a:t>reveal the average ER wait-times, busy hours of the day/week, and relations between patient severity levels and wait-times. </a:t>
            </a:r>
          </a:p>
          <a:p>
            <a:pPr algn="just">
              <a:lnSpc>
                <a:spcPts val="3079"/>
              </a:lnSpc>
              <a:spcBef>
                <a:spcPct val="0"/>
              </a:spcBef>
            </a:pPr>
          </a:p>
          <a:p>
            <a:pPr algn="just">
              <a:lnSpc>
                <a:spcPts val="3079"/>
              </a:lnSpc>
              <a:spcBef>
                <a:spcPct val="0"/>
              </a:spcBef>
            </a:pPr>
            <a:r>
              <a:rPr lang="en-US" sz="2199">
                <a:solidFill>
                  <a:srgbClr val="EFF1E8"/>
                </a:solidFill>
                <a:latin typeface="Poppins"/>
                <a:ea typeface="Poppins"/>
                <a:cs typeface="Poppins"/>
                <a:sym typeface="Poppins"/>
              </a:rPr>
              <a:t>Additionally, I simulated follow up questions/ answers from the stakeholders. </a:t>
            </a:r>
          </a:p>
          <a:p>
            <a:pPr algn="just">
              <a:lnSpc>
                <a:spcPts val="307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028700" y="3592679"/>
            <a:ext cx="16059580" cy="3101643"/>
            <a:chOff x="0" y="0"/>
            <a:chExt cx="21412774" cy="4135524"/>
          </a:xfrm>
        </p:grpSpPr>
        <p:sp>
          <p:nvSpPr>
            <p:cNvPr name="Freeform 3" id="3"/>
            <p:cNvSpPr/>
            <p:nvPr/>
          </p:nvSpPr>
          <p:spPr>
            <a:xfrm flipH="false" flipV="false" rot="0">
              <a:off x="0" y="0"/>
              <a:ext cx="3719548" cy="4135524"/>
            </a:xfrm>
            <a:custGeom>
              <a:avLst/>
              <a:gdLst/>
              <a:ahLst/>
              <a:cxnLst/>
              <a:rect r="r" b="b" t="t" l="l"/>
              <a:pathLst>
                <a:path h="4135524" w="3719548">
                  <a:moveTo>
                    <a:pt x="0" y="0"/>
                  </a:moveTo>
                  <a:lnTo>
                    <a:pt x="3719548" y="0"/>
                  </a:lnTo>
                  <a:lnTo>
                    <a:pt x="3719548" y="4135524"/>
                  </a:lnTo>
                  <a:lnTo>
                    <a:pt x="0" y="4135524"/>
                  </a:lnTo>
                  <a:lnTo>
                    <a:pt x="0" y="0"/>
                  </a:lnTo>
                  <a:close/>
                </a:path>
              </a:pathLst>
            </a:custGeom>
            <a:blipFill>
              <a:blip r:embed="rId2"/>
              <a:stretch>
                <a:fillRect l="0" t="0" r="0" b="0"/>
              </a:stretch>
            </a:blipFill>
          </p:spPr>
        </p:sp>
        <p:sp>
          <p:nvSpPr>
            <p:cNvPr name="Freeform 4" id="4"/>
            <p:cNvSpPr/>
            <p:nvPr/>
          </p:nvSpPr>
          <p:spPr>
            <a:xfrm flipH="false" flipV="false" rot="0">
              <a:off x="3441436" y="824358"/>
              <a:ext cx="4420990" cy="2486807"/>
            </a:xfrm>
            <a:custGeom>
              <a:avLst/>
              <a:gdLst/>
              <a:ahLst/>
              <a:cxnLst/>
              <a:rect r="r" b="b" t="t" l="l"/>
              <a:pathLst>
                <a:path h="2486807" w="4420990">
                  <a:moveTo>
                    <a:pt x="0" y="0"/>
                  </a:moveTo>
                  <a:lnTo>
                    <a:pt x="4420991" y="0"/>
                  </a:lnTo>
                  <a:lnTo>
                    <a:pt x="4420991" y="2486807"/>
                  </a:lnTo>
                  <a:lnTo>
                    <a:pt x="0" y="2486807"/>
                  </a:lnTo>
                  <a:lnTo>
                    <a:pt x="0" y="0"/>
                  </a:lnTo>
                  <a:close/>
                </a:path>
              </a:pathLst>
            </a:custGeom>
            <a:blipFill>
              <a:blip r:embed="rId3"/>
              <a:stretch>
                <a:fillRect l="0" t="0" r="0" b="0"/>
              </a:stretch>
            </a:blipFill>
          </p:spPr>
        </p:sp>
        <p:sp>
          <p:nvSpPr>
            <p:cNvPr name="Freeform 5" id="5"/>
            <p:cNvSpPr/>
            <p:nvPr/>
          </p:nvSpPr>
          <p:spPr>
            <a:xfrm flipH="false" flipV="false" rot="0">
              <a:off x="6289941" y="445548"/>
              <a:ext cx="5767870" cy="3244427"/>
            </a:xfrm>
            <a:custGeom>
              <a:avLst/>
              <a:gdLst/>
              <a:ahLst/>
              <a:cxnLst/>
              <a:rect r="r" b="b" t="t" l="l"/>
              <a:pathLst>
                <a:path h="3244427" w="5767870">
                  <a:moveTo>
                    <a:pt x="0" y="0"/>
                  </a:moveTo>
                  <a:lnTo>
                    <a:pt x="5767871" y="0"/>
                  </a:lnTo>
                  <a:lnTo>
                    <a:pt x="5767871" y="3244427"/>
                  </a:lnTo>
                  <a:lnTo>
                    <a:pt x="0" y="3244427"/>
                  </a:lnTo>
                  <a:lnTo>
                    <a:pt x="0" y="0"/>
                  </a:lnTo>
                  <a:close/>
                </a:path>
              </a:pathLst>
            </a:custGeom>
            <a:blipFill>
              <a:blip r:embed="rId4"/>
              <a:stretch>
                <a:fillRect l="0" t="0" r="0" b="0"/>
              </a:stretch>
            </a:blipFill>
          </p:spPr>
        </p:sp>
        <p:sp>
          <p:nvSpPr>
            <p:cNvPr name="Freeform 6" id="6"/>
            <p:cNvSpPr/>
            <p:nvPr/>
          </p:nvSpPr>
          <p:spPr>
            <a:xfrm flipH="false" flipV="false" rot="0">
              <a:off x="14630348" y="582193"/>
              <a:ext cx="3289841" cy="2971138"/>
            </a:xfrm>
            <a:custGeom>
              <a:avLst/>
              <a:gdLst/>
              <a:ahLst/>
              <a:cxnLst/>
              <a:rect r="r" b="b" t="t" l="l"/>
              <a:pathLst>
                <a:path h="2971138" w="3289841">
                  <a:moveTo>
                    <a:pt x="0" y="0"/>
                  </a:moveTo>
                  <a:lnTo>
                    <a:pt x="3289841" y="0"/>
                  </a:lnTo>
                  <a:lnTo>
                    <a:pt x="3289841" y="2971138"/>
                  </a:lnTo>
                  <a:lnTo>
                    <a:pt x="0" y="2971138"/>
                  </a:lnTo>
                  <a:lnTo>
                    <a:pt x="0" y="0"/>
                  </a:lnTo>
                  <a:close/>
                </a:path>
              </a:pathLst>
            </a:custGeom>
            <a:blipFill>
              <a:blip r:embed="rId5"/>
              <a:stretch>
                <a:fillRect l="0" t="0" r="0" b="0"/>
              </a:stretch>
            </a:blipFill>
          </p:spPr>
        </p:sp>
        <p:sp>
          <p:nvSpPr>
            <p:cNvPr name="Freeform 7" id="7"/>
            <p:cNvSpPr/>
            <p:nvPr/>
          </p:nvSpPr>
          <p:spPr>
            <a:xfrm flipH="false" flipV="false" rot="0">
              <a:off x="9980403" y="533129"/>
              <a:ext cx="5456471" cy="3069265"/>
            </a:xfrm>
            <a:custGeom>
              <a:avLst/>
              <a:gdLst/>
              <a:ahLst/>
              <a:cxnLst/>
              <a:rect r="r" b="b" t="t" l="l"/>
              <a:pathLst>
                <a:path h="3069265" w="5456471">
                  <a:moveTo>
                    <a:pt x="0" y="0"/>
                  </a:moveTo>
                  <a:lnTo>
                    <a:pt x="5456471" y="0"/>
                  </a:lnTo>
                  <a:lnTo>
                    <a:pt x="5456471" y="3069266"/>
                  </a:lnTo>
                  <a:lnTo>
                    <a:pt x="0" y="3069266"/>
                  </a:lnTo>
                  <a:lnTo>
                    <a:pt x="0" y="0"/>
                  </a:lnTo>
                  <a:close/>
                </a:path>
              </a:pathLst>
            </a:custGeom>
            <a:blipFill>
              <a:blip r:embed="rId6"/>
              <a:stretch>
                <a:fillRect l="0" t="0" r="0" b="0"/>
              </a:stretch>
            </a:blipFill>
          </p:spPr>
        </p:sp>
        <p:sp>
          <p:nvSpPr>
            <p:cNvPr name="Freeform 8" id="8"/>
            <p:cNvSpPr/>
            <p:nvPr/>
          </p:nvSpPr>
          <p:spPr>
            <a:xfrm flipH="false" flipV="false" rot="0">
              <a:off x="18451829" y="533129"/>
              <a:ext cx="2960945" cy="2931336"/>
            </a:xfrm>
            <a:custGeom>
              <a:avLst/>
              <a:gdLst/>
              <a:ahLst/>
              <a:cxnLst/>
              <a:rect r="r" b="b" t="t" l="l"/>
              <a:pathLst>
                <a:path h="2931336" w="2960945">
                  <a:moveTo>
                    <a:pt x="0" y="0"/>
                  </a:moveTo>
                  <a:lnTo>
                    <a:pt x="2960945" y="0"/>
                  </a:lnTo>
                  <a:lnTo>
                    <a:pt x="2960945" y="2931336"/>
                  </a:lnTo>
                  <a:lnTo>
                    <a:pt x="0" y="2931336"/>
                  </a:lnTo>
                  <a:lnTo>
                    <a:pt x="0" y="0"/>
                  </a:lnTo>
                  <a:close/>
                </a:path>
              </a:pathLst>
            </a:custGeom>
            <a:blipFill>
              <a:blip r:embed="rId7"/>
              <a:stretch>
                <a:fillRect l="0" t="0" r="0" b="0"/>
              </a:stretch>
            </a:blipFill>
          </p:spPr>
        </p:sp>
      </p:grpSp>
      <p:sp>
        <p:nvSpPr>
          <p:cNvPr name="TextBox 9" id="9"/>
          <p:cNvSpPr txBox="true"/>
          <p:nvPr/>
        </p:nvSpPr>
        <p:spPr>
          <a:xfrm rot="0">
            <a:off x="1400104" y="1123950"/>
            <a:ext cx="15487792" cy="1245235"/>
          </a:xfrm>
          <a:prstGeom prst="rect">
            <a:avLst/>
          </a:prstGeom>
        </p:spPr>
        <p:txBody>
          <a:bodyPr anchor="t" rtlCol="false" tIns="0" lIns="0" bIns="0" rIns="0">
            <a:spAutoFit/>
          </a:bodyPr>
          <a:lstStyle/>
          <a:p>
            <a:pPr algn="ctr">
              <a:lnSpc>
                <a:spcPts val="9679"/>
              </a:lnSpc>
            </a:pPr>
            <a:r>
              <a:rPr lang="en-US" b="true" sz="8799">
                <a:solidFill>
                  <a:srgbClr val="EFF1E8"/>
                </a:solidFill>
                <a:latin typeface="Montserrat Bold"/>
                <a:ea typeface="Montserrat Bold"/>
                <a:cs typeface="Montserrat Bold"/>
                <a:sym typeface="Montserrat Bold"/>
              </a:rPr>
              <a:t>Tools Used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847042" y="4084901"/>
            <a:ext cx="8399578" cy="697231"/>
            <a:chOff x="0" y="0"/>
            <a:chExt cx="2933836" cy="243532"/>
          </a:xfrm>
        </p:grpSpPr>
        <p:sp>
          <p:nvSpPr>
            <p:cNvPr name="Freeform 3" id="3"/>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4" id="4"/>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847042" y="5116358"/>
            <a:ext cx="8399578" cy="697231"/>
            <a:chOff x="0" y="0"/>
            <a:chExt cx="2933836" cy="243532"/>
          </a:xfrm>
        </p:grpSpPr>
        <p:sp>
          <p:nvSpPr>
            <p:cNvPr name="Freeform 6" id="6"/>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7" id="7"/>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847042" y="6147814"/>
            <a:ext cx="8399578" cy="697231"/>
            <a:chOff x="0" y="0"/>
            <a:chExt cx="2933836" cy="243532"/>
          </a:xfrm>
        </p:grpSpPr>
        <p:sp>
          <p:nvSpPr>
            <p:cNvPr name="Freeform 9" id="9"/>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10" id="10"/>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847042" y="7179271"/>
            <a:ext cx="8399578" cy="697231"/>
            <a:chOff x="0" y="0"/>
            <a:chExt cx="2933836" cy="243532"/>
          </a:xfrm>
        </p:grpSpPr>
        <p:sp>
          <p:nvSpPr>
            <p:cNvPr name="Freeform 12" id="12"/>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13" id="13"/>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847042" y="8210727"/>
            <a:ext cx="8399578" cy="697231"/>
            <a:chOff x="0" y="0"/>
            <a:chExt cx="2933836" cy="243532"/>
          </a:xfrm>
        </p:grpSpPr>
        <p:sp>
          <p:nvSpPr>
            <p:cNvPr name="Freeform 15" id="15"/>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16" id="16"/>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1765783" y="6496430"/>
            <a:ext cx="4882709" cy="3514709"/>
          </a:xfrm>
          <a:custGeom>
            <a:avLst/>
            <a:gdLst/>
            <a:ahLst/>
            <a:cxnLst/>
            <a:rect r="r" b="b" t="t" l="l"/>
            <a:pathLst>
              <a:path h="3514709" w="4882709">
                <a:moveTo>
                  <a:pt x="0" y="0"/>
                </a:moveTo>
                <a:lnTo>
                  <a:pt x="4882709" y="0"/>
                </a:lnTo>
                <a:lnTo>
                  <a:pt x="4882709" y="3514708"/>
                </a:lnTo>
                <a:lnTo>
                  <a:pt x="0" y="35147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2253422" y="1123950"/>
            <a:ext cx="13781156" cy="2473960"/>
          </a:xfrm>
          <a:prstGeom prst="rect">
            <a:avLst/>
          </a:prstGeom>
        </p:spPr>
        <p:txBody>
          <a:bodyPr anchor="t" rtlCol="false" tIns="0" lIns="0" bIns="0" rIns="0">
            <a:spAutoFit/>
          </a:bodyPr>
          <a:lstStyle/>
          <a:p>
            <a:pPr algn="ctr">
              <a:lnSpc>
                <a:spcPts val="9679"/>
              </a:lnSpc>
            </a:pPr>
            <a:r>
              <a:rPr lang="en-US" b="true" sz="8799">
                <a:solidFill>
                  <a:srgbClr val="EFF1E8"/>
                </a:solidFill>
                <a:latin typeface="Montserrat Bold"/>
                <a:ea typeface="Montserrat Bold"/>
                <a:cs typeface="Montserrat Bold"/>
                <a:sym typeface="Montserrat Bold"/>
              </a:rPr>
              <a:t>SQL &amp; Modeling Workflow</a:t>
            </a:r>
          </a:p>
        </p:txBody>
      </p:sp>
      <p:sp>
        <p:nvSpPr>
          <p:cNvPr name="TextBox 19" id="19"/>
          <p:cNvSpPr txBox="true"/>
          <p:nvPr/>
        </p:nvSpPr>
        <p:spPr>
          <a:xfrm rot="0">
            <a:off x="1955682" y="4225529"/>
            <a:ext cx="8182298" cy="358775"/>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D</a:t>
            </a:r>
            <a:r>
              <a:rPr lang="en-US" sz="1999">
                <a:solidFill>
                  <a:srgbClr val="70A1BD"/>
                </a:solidFill>
                <a:latin typeface="Poppins"/>
                <a:ea typeface="Poppins"/>
                <a:cs typeface="Poppins"/>
                <a:sym typeface="Poppins"/>
              </a:rPr>
              <a:t>esigned Entity Relationship Diagram</a:t>
            </a:r>
          </a:p>
        </p:txBody>
      </p:sp>
      <p:sp>
        <p:nvSpPr>
          <p:cNvPr name="TextBox 20" id="20"/>
          <p:cNvSpPr txBox="true"/>
          <p:nvPr/>
        </p:nvSpPr>
        <p:spPr>
          <a:xfrm rot="0">
            <a:off x="1955682" y="5256986"/>
            <a:ext cx="8182298" cy="358775"/>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C</a:t>
            </a:r>
            <a:r>
              <a:rPr lang="en-US" sz="1999">
                <a:solidFill>
                  <a:srgbClr val="70A1BD"/>
                </a:solidFill>
                <a:latin typeface="Poppins"/>
                <a:ea typeface="Poppins"/>
                <a:cs typeface="Poppins"/>
                <a:sym typeface="Poppins"/>
              </a:rPr>
              <a:t>reated tables in SQL</a:t>
            </a:r>
          </a:p>
        </p:txBody>
      </p:sp>
      <p:sp>
        <p:nvSpPr>
          <p:cNvPr name="TextBox 21" id="21"/>
          <p:cNvSpPr txBox="true"/>
          <p:nvPr/>
        </p:nvSpPr>
        <p:spPr>
          <a:xfrm rot="0">
            <a:off x="1955682" y="6288442"/>
            <a:ext cx="8182298" cy="358775"/>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Impor</a:t>
            </a:r>
            <a:r>
              <a:rPr lang="en-US" sz="1999">
                <a:solidFill>
                  <a:srgbClr val="70A1BD"/>
                </a:solidFill>
                <a:latin typeface="Poppins"/>
                <a:ea typeface="Poppins"/>
                <a:cs typeface="Poppins"/>
                <a:sym typeface="Poppins"/>
              </a:rPr>
              <a:t>ted CSVs: ER visits, appointments, patients, and providers</a:t>
            </a:r>
          </a:p>
        </p:txBody>
      </p:sp>
      <p:sp>
        <p:nvSpPr>
          <p:cNvPr name="TextBox 22" id="22"/>
          <p:cNvSpPr txBox="true"/>
          <p:nvPr/>
        </p:nvSpPr>
        <p:spPr>
          <a:xfrm rot="0">
            <a:off x="1955682" y="7319899"/>
            <a:ext cx="8182298" cy="711200"/>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Standardiz</a:t>
            </a:r>
            <a:r>
              <a:rPr lang="en-US" sz="1999">
                <a:solidFill>
                  <a:srgbClr val="70A1BD"/>
                </a:solidFill>
                <a:latin typeface="Poppins"/>
                <a:ea typeface="Poppins"/>
                <a:cs typeface="Poppins"/>
                <a:sym typeface="Poppins"/>
              </a:rPr>
              <a:t>ed providers names within dataset</a:t>
            </a:r>
          </a:p>
          <a:p>
            <a:pPr algn="ctr">
              <a:lnSpc>
                <a:spcPts val="2799"/>
              </a:lnSpc>
              <a:spcBef>
                <a:spcPct val="0"/>
              </a:spcBef>
            </a:pPr>
          </a:p>
        </p:txBody>
      </p:sp>
      <p:sp>
        <p:nvSpPr>
          <p:cNvPr name="TextBox 23" id="23"/>
          <p:cNvSpPr txBox="true"/>
          <p:nvPr/>
        </p:nvSpPr>
        <p:spPr>
          <a:xfrm rot="0">
            <a:off x="1955682" y="8351355"/>
            <a:ext cx="8182298" cy="358775"/>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Co</a:t>
            </a:r>
            <a:r>
              <a:rPr lang="en-US" sz="1999">
                <a:solidFill>
                  <a:srgbClr val="70A1BD"/>
                </a:solidFill>
                <a:latin typeface="Poppins"/>
                <a:ea typeface="Poppins"/>
                <a:cs typeface="Poppins"/>
                <a:sym typeface="Poppins"/>
              </a:rPr>
              <a:t>nduct exploratory SQL analysis </a:t>
            </a:r>
          </a:p>
        </p:txBody>
      </p:sp>
      <p:grpSp>
        <p:nvGrpSpPr>
          <p:cNvPr name="Group 24" id="24"/>
          <p:cNvGrpSpPr/>
          <p:nvPr/>
        </p:nvGrpSpPr>
        <p:grpSpPr>
          <a:xfrm rot="0">
            <a:off x="1847042" y="9193708"/>
            <a:ext cx="8399578" cy="697231"/>
            <a:chOff x="0" y="0"/>
            <a:chExt cx="2933836" cy="243532"/>
          </a:xfrm>
        </p:grpSpPr>
        <p:sp>
          <p:nvSpPr>
            <p:cNvPr name="Freeform 25" id="25"/>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26" id="26"/>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955682" y="9334337"/>
            <a:ext cx="8182298" cy="358775"/>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Expor</a:t>
            </a:r>
            <a:r>
              <a:rPr lang="en-US" sz="1999">
                <a:solidFill>
                  <a:srgbClr val="70A1BD"/>
                </a:solidFill>
                <a:latin typeface="Poppins"/>
                <a:ea typeface="Poppins"/>
                <a:cs typeface="Poppins"/>
                <a:sym typeface="Poppins"/>
              </a:rPr>
              <a:t>ted aggregated tables for visualization</a:t>
            </a:r>
          </a:p>
        </p:txBody>
      </p:sp>
      <p:sp>
        <p:nvSpPr>
          <p:cNvPr name="Freeform 28" id="28"/>
          <p:cNvSpPr/>
          <p:nvPr/>
        </p:nvSpPr>
        <p:spPr>
          <a:xfrm flipH="false" flipV="false" rot="0">
            <a:off x="12925830" y="3597910"/>
            <a:ext cx="2270266" cy="2402398"/>
          </a:xfrm>
          <a:custGeom>
            <a:avLst/>
            <a:gdLst/>
            <a:ahLst/>
            <a:cxnLst/>
            <a:rect r="r" b="b" t="t" l="l"/>
            <a:pathLst>
              <a:path h="2402398" w="2270266">
                <a:moveTo>
                  <a:pt x="0" y="0"/>
                </a:moveTo>
                <a:lnTo>
                  <a:pt x="2270266" y="0"/>
                </a:lnTo>
                <a:lnTo>
                  <a:pt x="2270266" y="2402398"/>
                </a:lnTo>
                <a:lnTo>
                  <a:pt x="0" y="2402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6555729" y="8143578"/>
            <a:ext cx="4929705" cy="1733847"/>
            <a:chOff x="0" y="0"/>
            <a:chExt cx="1298359" cy="456651"/>
          </a:xfrm>
        </p:grpSpPr>
        <p:sp>
          <p:nvSpPr>
            <p:cNvPr name="Freeform 3" id="3"/>
            <p:cNvSpPr/>
            <p:nvPr/>
          </p:nvSpPr>
          <p:spPr>
            <a:xfrm flipH="false" flipV="false" rot="0">
              <a:off x="0" y="0"/>
              <a:ext cx="1298359" cy="456651"/>
            </a:xfrm>
            <a:custGeom>
              <a:avLst/>
              <a:gdLst/>
              <a:ahLst/>
              <a:cxnLst/>
              <a:rect r="r" b="b" t="t" l="l"/>
              <a:pathLst>
                <a:path h="456651" w="1298359">
                  <a:moveTo>
                    <a:pt x="25127" y="0"/>
                  </a:moveTo>
                  <a:lnTo>
                    <a:pt x="1273231" y="0"/>
                  </a:lnTo>
                  <a:cubicBezTo>
                    <a:pt x="1279895" y="0"/>
                    <a:pt x="1286287" y="2647"/>
                    <a:pt x="1290999" y="7360"/>
                  </a:cubicBezTo>
                  <a:cubicBezTo>
                    <a:pt x="1295711" y="12072"/>
                    <a:pt x="1298359" y="18463"/>
                    <a:pt x="1298359" y="25127"/>
                  </a:cubicBezTo>
                  <a:lnTo>
                    <a:pt x="1298359" y="431524"/>
                  </a:lnTo>
                  <a:cubicBezTo>
                    <a:pt x="1298359" y="438188"/>
                    <a:pt x="1295711" y="444579"/>
                    <a:pt x="1290999" y="449291"/>
                  </a:cubicBezTo>
                  <a:cubicBezTo>
                    <a:pt x="1286287" y="454004"/>
                    <a:pt x="1279895" y="456651"/>
                    <a:pt x="1273231" y="456651"/>
                  </a:cubicBezTo>
                  <a:lnTo>
                    <a:pt x="25127" y="456651"/>
                  </a:lnTo>
                  <a:cubicBezTo>
                    <a:pt x="18463" y="456651"/>
                    <a:pt x="12072" y="454004"/>
                    <a:pt x="7360" y="449291"/>
                  </a:cubicBezTo>
                  <a:cubicBezTo>
                    <a:pt x="2647" y="444579"/>
                    <a:pt x="0" y="438188"/>
                    <a:pt x="0" y="431524"/>
                  </a:cubicBezTo>
                  <a:lnTo>
                    <a:pt x="0" y="25127"/>
                  </a:lnTo>
                  <a:cubicBezTo>
                    <a:pt x="0" y="18463"/>
                    <a:pt x="2647" y="12072"/>
                    <a:pt x="7360" y="7360"/>
                  </a:cubicBezTo>
                  <a:cubicBezTo>
                    <a:pt x="12072" y="2647"/>
                    <a:pt x="18463" y="0"/>
                    <a:pt x="25127" y="0"/>
                  </a:cubicBezTo>
                  <a:close/>
                </a:path>
              </a:pathLst>
            </a:custGeom>
            <a:solidFill>
              <a:srgbClr val="EFF1E8"/>
            </a:solidFill>
          </p:spPr>
        </p:sp>
        <p:sp>
          <p:nvSpPr>
            <p:cNvPr name="TextBox 4" id="4"/>
            <p:cNvSpPr txBox="true"/>
            <p:nvPr/>
          </p:nvSpPr>
          <p:spPr>
            <a:xfrm>
              <a:off x="0" y="-38100"/>
              <a:ext cx="1298359" cy="49475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126711" y="1123950"/>
            <a:ext cx="16034578" cy="1245235"/>
          </a:xfrm>
          <a:prstGeom prst="rect">
            <a:avLst/>
          </a:prstGeom>
        </p:spPr>
        <p:txBody>
          <a:bodyPr anchor="t" rtlCol="false" tIns="0" lIns="0" bIns="0" rIns="0">
            <a:spAutoFit/>
          </a:bodyPr>
          <a:lstStyle/>
          <a:p>
            <a:pPr algn="ctr">
              <a:lnSpc>
                <a:spcPts val="9679"/>
              </a:lnSpc>
            </a:pPr>
            <a:r>
              <a:rPr lang="en-US" b="true" sz="8799">
                <a:solidFill>
                  <a:srgbClr val="EFF1E8"/>
                </a:solidFill>
                <a:latin typeface="Montserrat Bold"/>
                <a:ea typeface="Montserrat Bold"/>
                <a:cs typeface="Montserrat Bold"/>
                <a:sym typeface="Montserrat Bold"/>
              </a:rPr>
              <a:t>Insights</a:t>
            </a:r>
          </a:p>
        </p:txBody>
      </p:sp>
      <p:sp>
        <p:nvSpPr>
          <p:cNvPr name="TextBox 6" id="6"/>
          <p:cNvSpPr txBox="true"/>
          <p:nvPr/>
        </p:nvSpPr>
        <p:spPr>
          <a:xfrm rot="0">
            <a:off x="6790578" y="8487113"/>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70A1BD"/>
                </a:solidFill>
                <a:latin typeface="Montserrat Bold"/>
                <a:ea typeface="Montserrat Bold"/>
                <a:cs typeface="Montserrat Bold"/>
                <a:sym typeface="Montserrat Bold"/>
              </a:rPr>
              <a:t>71% of Visits During Peak Periods</a:t>
            </a:r>
          </a:p>
        </p:txBody>
      </p:sp>
      <p:sp>
        <p:nvSpPr>
          <p:cNvPr name="TextBox 7" id="7"/>
          <p:cNvSpPr txBox="true"/>
          <p:nvPr/>
        </p:nvSpPr>
        <p:spPr>
          <a:xfrm rot="0">
            <a:off x="6790578" y="8953352"/>
            <a:ext cx="4221162" cy="711200"/>
          </a:xfrm>
          <a:prstGeom prst="rect">
            <a:avLst/>
          </a:prstGeom>
        </p:spPr>
        <p:txBody>
          <a:bodyPr anchor="t" rtlCol="false" tIns="0" lIns="0" bIns="0" rIns="0">
            <a:spAutoFit/>
          </a:bodyPr>
          <a:lstStyle/>
          <a:p>
            <a:pPr algn="l">
              <a:lnSpc>
                <a:spcPts val="2799"/>
              </a:lnSpc>
              <a:spcBef>
                <a:spcPct val="0"/>
              </a:spcBef>
            </a:pPr>
            <a:r>
              <a:rPr lang="en-US" sz="1999">
                <a:solidFill>
                  <a:srgbClr val="70A1BD"/>
                </a:solidFill>
                <a:latin typeface="Poppins"/>
                <a:ea typeface="Poppins"/>
                <a:cs typeface="Poppins"/>
                <a:sym typeface="Poppins"/>
              </a:rPr>
              <a:t>Generated by Medium- and Low-severity patients</a:t>
            </a:r>
          </a:p>
        </p:txBody>
      </p:sp>
      <p:sp>
        <p:nvSpPr>
          <p:cNvPr name="TextBox 8" id="8"/>
          <p:cNvSpPr txBox="true"/>
          <p:nvPr/>
        </p:nvSpPr>
        <p:spPr>
          <a:xfrm rot="0">
            <a:off x="4291121" y="3839323"/>
            <a:ext cx="647757" cy="528026"/>
          </a:xfrm>
          <a:prstGeom prst="rect">
            <a:avLst/>
          </a:prstGeom>
        </p:spPr>
        <p:txBody>
          <a:bodyPr anchor="t" rtlCol="false" tIns="0" lIns="0" bIns="0" rIns="0">
            <a:spAutoFit/>
          </a:bodyPr>
          <a:lstStyle/>
          <a:p>
            <a:pPr algn="l">
              <a:lnSpc>
                <a:spcPts val="4351"/>
              </a:lnSpc>
              <a:spcBef>
                <a:spcPct val="0"/>
              </a:spcBef>
            </a:pPr>
            <a:r>
              <a:rPr lang="en-US" b="true" sz="3108">
                <a:solidFill>
                  <a:srgbClr val="70A1BD"/>
                </a:solidFill>
                <a:latin typeface="Montserrat Bold"/>
                <a:ea typeface="Montserrat Bold"/>
                <a:cs typeface="Montserrat Bold"/>
                <a:sym typeface="Montserrat Bold"/>
              </a:rPr>
              <a:t>5</a:t>
            </a:r>
          </a:p>
        </p:txBody>
      </p:sp>
      <p:pic>
        <p:nvPicPr>
          <p:cNvPr name="Picture 9" id="9"/>
          <p:cNvPicPr>
            <a:picLocks noChangeAspect="true"/>
          </p:cNvPicPr>
          <p:nvPr/>
        </p:nvPicPr>
        <p:blipFill>
          <a:blip r:embed="rId2"/>
          <a:stretch>
            <a:fillRect/>
          </a:stretch>
        </p:blipFill>
        <p:spPr>
          <a:xfrm rot="0">
            <a:off x="76214" y="5565792"/>
            <a:ext cx="6143018" cy="4807597"/>
          </a:xfrm>
          <a:prstGeom prst="rect">
            <a:avLst/>
          </a:prstGeom>
        </p:spPr>
      </p:pic>
      <p:pic>
        <p:nvPicPr>
          <p:cNvPr name="Picture 10" id="10"/>
          <p:cNvPicPr>
            <a:picLocks noChangeAspect="true"/>
          </p:cNvPicPr>
          <p:nvPr/>
        </p:nvPicPr>
        <p:blipFill>
          <a:blip r:embed="rId3"/>
          <a:stretch>
            <a:fillRect/>
          </a:stretch>
        </p:blipFill>
        <p:spPr>
          <a:xfrm rot="0">
            <a:off x="11441483" y="2513844"/>
            <a:ext cx="6923312" cy="4117227"/>
          </a:xfrm>
          <a:prstGeom prst="rect">
            <a:avLst/>
          </a:prstGeom>
        </p:spPr>
      </p:pic>
      <p:grpSp>
        <p:nvGrpSpPr>
          <p:cNvPr name="Group 11" id="11"/>
          <p:cNvGrpSpPr/>
          <p:nvPr/>
        </p:nvGrpSpPr>
        <p:grpSpPr>
          <a:xfrm rot="0">
            <a:off x="3318792" y="3337726"/>
            <a:ext cx="2388522" cy="1885743"/>
            <a:chOff x="0" y="0"/>
            <a:chExt cx="1307450" cy="1032235"/>
          </a:xfrm>
        </p:grpSpPr>
        <p:sp>
          <p:nvSpPr>
            <p:cNvPr name="Freeform 12" id="12"/>
            <p:cNvSpPr/>
            <p:nvPr/>
          </p:nvSpPr>
          <p:spPr>
            <a:xfrm flipH="false" flipV="false" rot="0">
              <a:off x="0" y="0"/>
              <a:ext cx="1307450" cy="1032235"/>
            </a:xfrm>
            <a:custGeom>
              <a:avLst/>
              <a:gdLst/>
              <a:ahLst/>
              <a:cxnLst/>
              <a:rect r="r" b="b" t="t" l="l"/>
              <a:pathLst>
                <a:path h="1032235" w="1307450">
                  <a:moveTo>
                    <a:pt x="165306" y="0"/>
                  </a:moveTo>
                  <a:lnTo>
                    <a:pt x="1142144" y="0"/>
                  </a:lnTo>
                  <a:cubicBezTo>
                    <a:pt x="1233440" y="0"/>
                    <a:pt x="1307450" y="74010"/>
                    <a:pt x="1307450" y="165306"/>
                  </a:cubicBezTo>
                  <a:lnTo>
                    <a:pt x="1307450" y="866929"/>
                  </a:lnTo>
                  <a:cubicBezTo>
                    <a:pt x="1307450" y="958225"/>
                    <a:pt x="1233440" y="1032235"/>
                    <a:pt x="1142144" y="1032235"/>
                  </a:cubicBezTo>
                  <a:lnTo>
                    <a:pt x="165306" y="1032235"/>
                  </a:lnTo>
                  <a:cubicBezTo>
                    <a:pt x="74010" y="1032235"/>
                    <a:pt x="0" y="958225"/>
                    <a:pt x="0" y="866929"/>
                  </a:cubicBezTo>
                  <a:lnTo>
                    <a:pt x="0" y="165306"/>
                  </a:lnTo>
                  <a:cubicBezTo>
                    <a:pt x="0" y="74010"/>
                    <a:pt x="74010" y="0"/>
                    <a:pt x="165306" y="0"/>
                  </a:cubicBezTo>
                  <a:close/>
                </a:path>
              </a:pathLst>
            </a:custGeom>
            <a:solidFill>
              <a:srgbClr val="EFF1E8"/>
            </a:solidFill>
          </p:spPr>
        </p:sp>
        <p:sp>
          <p:nvSpPr>
            <p:cNvPr name="TextBox 13" id="13"/>
            <p:cNvSpPr txBox="true"/>
            <p:nvPr/>
          </p:nvSpPr>
          <p:spPr>
            <a:xfrm>
              <a:off x="0" y="-38100"/>
              <a:ext cx="1307450" cy="1070335"/>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3418485" y="3354477"/>
            <a:ext cx="2189136" cy="729779"/>
          </a:xfrm>
          <a:prstGeom prst="rect">
            <a:avLst/>
          </a:prstGeom>
        </p:spPr>
        <p:txBody>
          <a:bodyPr anchor="t" rtlCol="false" tIns="0" lIns="0" bIns="0" rIns="0">
            <a:spAutoFit/>
          </a:bodyPr>
          <a:lstStyle/>
          <a:p>
            <a:pPr algn="ctr">
              <a:lnSpc>
                <a:spcPts val="5927"/>
              </a:lnSpc>
              <a:spcBef>
                <a:spcPct val="0"/>
              </a:spcBef>
            </a:pPr>
            <a:r>
              <a:rPr lang="en-US" b="true" sz="4234">
                <a:solidFill>
                  <a:srgbClr val="70A1BD"/>
                </a:solidFill>
                <a:latin typeface="Montserrat Bold"/>
                <a:ea typeface="Montserrat Bold"/>
                <a:cs typeface="Montserrat Bold"/>
                <a:sym typeface="Montserrat Bold"/>
              </a:rPr>
              <a:t>67 min</a:t>
            </a:r>
          </a:p>
        </p:txBody>
      </p:sp>
      <p:sp>
        <p:nvSpPr>
          <p:cNvPr name="TextBox 15" id="15"/>
          <p:cNvSpPr txBox="true"/>
          <p:nvPr/>
        </p:nvSpPr>
        <p:spPr>
          <a:xfrm rot="0">
            <a:off x="3372757" y="4129084"/>
            <a:ext cx="2280592" cy="942219"/>
          </a:xfrm>
          <a:prstGeom prst="rect">
            <a:avLst/>
          </a:prstGeom>
        </p:spPr>
        <p:txBody>
          <a:bodyPr anchor="t" rtlCol="false" tIns="0" lIns="0" bIns="0" rIns="0">
            <a:spAutoFit/>
          </a:bodyPr>
          <a:lstStyle/>
          <a:p>
            <a:pPr algn="ctr">
              <a:lnSpc>
                <a:spcPts val="3695"/>
              </a:lnSpc>
            </a:pPr>
            <a:r>
              <a:rPr lang="en-US" sz="2886" i="true">
                <a:solidFill>
                  <a:srgbClr val="70A1BD"/>
                </a:solidFill>
                <a:latin typeface="Poppins Italics"/>
                <a:ea typeface="Poppins Italics"/>
                <a:cs typeface="Poppins Italics"/>
                <a:sym typeface="Poppins Italics"/>
              </a:rPr>
              <a:t>Median</a:t>
            </a:r>
          </a:p>
          <a:p>
            <a:pPr algn="ctr">
              <a:lnSpc>
                <a:spcPts val="3695"/>
              </a:lnSpc>
            </a:pPr>
            <a:r>
              <a:rPr lang="en-US" sz="2886">
                <a:solidFill>
                  <a:srgbClr val="70A1BD"/>
                </a:solidFill>
                <a:latin typeface="Poppins"/>
                <a:ea typeface="Poppins"/>
                <a:cs typeface="Poppins"/>
                <a:sym typeface="Poppins"/>
              </a:rPr>
              <a:t>Wait</a:t>
            </a:r>
          </a:p>
        </p:txBody>
      </p:sp>
      <p:grpSp>
        <p:nvGrpSpPr>
          <p:cNvPr name="Group 16" id="16"/>
          <p:cNvGrpSpPr/>
          <p:nvPr/>
        </p:nvGrpSpPr>
        <p:grpSpPr>
          <a:xfrm rot="0">
            <a:off x="13071174" y="6691727"/>
            <a:ext cx="3663931" cy="2903703"/>
            <a:chOff x="0" y="0"/>
            <a:chExt cx="1223697" cy="969793"/>
          </a:xfrm>
        </p:grpSpPr>
        <p:sp>
          <p:nvSpPr>
            <p:cNvPr name="Freeform 17" id="17"/>
            <p:cNvSpPr/>
            <p:nvPr/>
          </p:nvSpPr>
          <p:spPr>
            <a:xfrm flipH="false" flipV="false" rot="0">
              <a:off x="0" y="0"/>
              <a:ext cx="1223697" cy="969793"/>
            </a:xfrm>
            <a:custGeom>
              <a:avLst/>
              <a:gdLst/>
              <a:ahLst/>
              <a:cxnLst/>
              <a:rect r="r" b="b" t="t" l="l"/>
              <a:pathLst>
                <a:path h="969793" w="1223697">
                  <a:moveTo>
                    <a:pt x="107763" y="0"/>
                  </a:moveTo>
                  <a:lnTo>
                    <a:pt x="1115934" y="0"/>
                  </a:lnTo>
                  <a:cubicBezTo>
                    <a:pt x="1144515" y="0"/>
                    <a:pt x="1171925" y="11354"/>
                    <a:pt x="1192134" y="31563"/>
                  </a:cubicBezTo>
                  <a:cubicBezTo>
                    <a:pt x="1212344" y="51773"/>
                    <a:pt x="1223697" y="79183"/>
                    <a:pt x="1223697" y="107763"/>
                  </a:cubicBezTo>
                  <a:lnTo>
                    <a:pt x="1223697" y="862029"/>
                  </a:lnTo>
                  <a:cubicBezTo>
                    <a:pt x="1223697" y="921546"/>
                    <a:pt x="1175450" y="969793"/>
                    <a:pt x="1115934" y="969793"/>
                  </a:cubicBezTo>
                  <a:lnTo>
                    <a:pt x="107763" y="969793"/>
                  </a:lnTo>
                  <a:cubicBezTo>
                    <a:pt x="48247" y="969793"/>
                    <a:pt x="0" y="921546"/>
                    <a:pt x="0" y="862029"/>
                  </a:cubicBezTo>
                  <a:lnTo>
                    <a:pt x="0" y="107763"/>
                  </a:lnTo>
                  <a:cubicBezTo>
                    <a:pt x="0" y="48247"/>
                    <a:pt x="48247" y="0"/>
                    <a:pt x="107763" y="0"/>
                  </a:cubicBezTo>
                  <a:close/>
                </a:path>
              </a:pathLst>
            </a:custGeom>
            <a:solidFill>
              <a:srgbClr val="655D5C"/>
            </a:solidFill>
            <a:ln w="38100" cap="rnd">
              <a:solidFill>
                <a:srgbClr val="EFF1E8"/>
              </a:solidFill>
              <a:prstDash val="solid"/>
              <a:round/>
            </a:ln>
          </p:spPr>
        </p:sp>
        <p:sp>
          <p:nvSpPr>
            <p:cNvPr name="TextBox 18" id="18"/>
            <p:cNvSpPr txBox="true"/>
            <p:nvPr/>
          </p:nvSpPr>
          <p:spPr>
            <a:xfrm>
              <a:off x="0" y="-57150"/>
              <a:ext cx="1223697" cy="1026943"/>
            </a:xfrm>
            <a:prstGeom prst="rect">
              <a:avLst/>
            </a:prstGeom>
          </p:spPr>
          <p:txBody>
            <a:bodyPr anchor="ctr" rtlCol="false" tIns="50800" lIns="50800" bIns="50800" rIns="50800"/>
            <a:lstStyle/>
            <a:p>
              <a:pPr algn="ctr">
                <a:lnSpc>
                  <a:spcPts val="2799"/>
                </a:lnSpc>
              </a:pPr>
            </a:p>
          </p:txBody>
        </p:sp>
      </p:grpSp>
      <p:sp>
        <p:nvSpPr>
          <p:cNvPr name="AutoShape 19" id="19"/>
          <p:cNvSpPr/>
          <p:nvPr/>
        </p:nvSpPr>
        <p:spPr>
          <a:xfrm>
            <a:off x="13071174" y="8133200"/>
            <a:ext cx="3663931" cy="0"/>
          </a:xfrm>
          <a:prstGeom prst="line">
            <a:avLst/>
          </a:prstGeom>
          <a:ln cap="flat" w="28575">
            <a:solidFill>
              <a:srgbClr val="EFF1E8"/>
            </a:solidFill>
            <a:prstDash val="solid"/>
            <a:headEnd type="none" len="sm" w="sm"/>
            <a:tailEnd type="none" len="sm" w="sm"/>
          </a:ln>
        </p:spPr>
      </p:sp>
      <p:sp>
        <p:nvSpPr>
          <p:cNvPr name="AutoShape 20" id="20"/>
          <p:cNvSpPr/>
          <p:nvPr/>
        </p:nvSpPr>
        <p:spPr>
          <a:xfrm>
            <a:off x="13071174" y="8864315"/>
            <a:ext cx="3663931" cy="0"/>
          </a:xfrm>
          <a:prstGeom prst="line">
            <a:avLst/>
          </a:prstGeom>
          <a:ln cap="flat" w="28575">
            <a:solidFill>
              <a:srgbClr val="EFF1E8"/>
            </a:solidFill>
            <a:prstDash val="solid"/>
            <a:headEnd type="none" len="sm" w="sm"/>
            <a:tailEnd type="none" len="sm" w="sm"/>
          </a:ln>
        </p:spPr>
      </p:sp>
      <p:sp>
        <p:nvSpPr>
          <p:cNvPr name="AutoShape 21" id="21"/>
          <p:cNvSpPr/>
          <p:nvPr/>
        </p:nvSpPr>
        <p:spPr>
          <a:xfrm>
            <a:off x="13071174" y="7522265"/>
            <a:ext cx="3663931" cy="0"/>
          </a:xfrm>
          <a:prstGeom prst="line">
            <a:avLst/>
          </a:prstGeom>
          <a:ln cap="flat" w="28575">
            <a:solidFill>
              <a:srgbClr val="EFF1E8"/>
            </a:solidFill>
            <a:prstDash val="solid"/>
            <a:headEnd type="none" len="sm" w="sm"/>
            <a:tailEnd type="none" len="sm" w="sm"/>
          </a:ln>
        </p:spPr>
      </p:sp>
      <p:sp>
        <p:nvSpPr>
          <p:cNvPr name="TextBox 22" id="22"/>
          <p:cNvSpPr txBox="true"/>
          <p:nvPr/>
        </p:nvSpPr>
        <p:spPr>
          <a:xfrm rot="0">
            <a:off x="13071174" y="6821562"/>
            <a:ext cx="3663931" cy="597001"/>
          </a:xfrm>
          <a:prstGeom prst="rect">
            <a:avLst/>
          </a:prstGeom>
        </p:spPr>
        <p:txBody>
          <a:bodyPr anchor="t" rtlCol="false" tIns="0" lIns="0" bIns="0" rIns="0">
            <a:spAutoFit/>
          </a:bodyPr>
          <a:lstStyle/>
          <a:p>
            <a:pPr algn="ctr">
              <a:lnSpc>
                <a:spcPts val="4636"/>
              </a:lnSpc>
              <a:spcBef>
                <a:spcPct val="0"/>
              </a:spcBef>
            </a:pPr>
            <a:r>
              <a:rPr lang="en-US" b="true" sz="3312">
                <a:solidFill>
                  <a:srgbClr val="EFF1E8"/>
                </a:solidFill>
                <a:latin typeface="Poppins Bold"/>
                <a:ea typeface="Poppins Bold"/>
                <a:cs typeface="Poppins Bold"/>
                <a:sym typeface="Poppins Bold"/>
              </a:rPr>
              <a:t>Busiest Hours</a:t>
            </a:r>
          </a:p>
        </p:txBody>
      </p:sp>
      <p:sp>
        <p:nvSpPr>
          <p:cNvPr name="TextBox 23" id="23"/>
          <p:cNvSpPr txBox="true"/>
          <p:nvPr/>
        </p:nvSpPr>
        <p:spPr>
          <a:xfrm rot="0">
            <a:off x="13499593" y="7630362"/>
            <a:ext cx="2807094" cy="357525"/>
          </a:xfrm>
          <a:prstGeom prst="rect">
            <a:avLst/>
          </a:prstGeom>
        </p:spPr>
        <p:txBody>
          <a:bodyPr anchor="t" rtlCol="false" tIns="0" lIns="0" bIns="0" rIns="0">
            <a:spAutoFit/>
          </a:bodyPr>
          <a:lstStyle/>
          <a:p>
            <a:pPr algn="ctr">
              <a:lnSpc>
                <a:spcPts val="2856"/>
              </a:lnSpc>
              <a:spcBef>
                <a:spcPct val="0"/>
              </a:spcBef>
            </a:pPr>
            <a:r>
              <a:rPr lang="en-US" sz="2040">
                <a:solidFill>
                  <a:srgbClr val="EFF1E8"/>
                </a:solidFill>
                <a:latin typeface="Poppins"/>
                <a:ea typeface="Poppins"/>
                <a:cs typeface="Poppins"/>
                <a:sym typeface="Poppins"/>
              </a:rPr>
              <a:t>12 AM</a:t>
            </a:r>
          </a:p>
        </p:txBody>
      </p:sp>
      <p:sp>
        <p:nvSpPr>
          <p:cNvPr name="TextBox 24" id="24"/>
          <p:cNvSpPr txBox="true"/>
          <p:nvPr/>
        </p:nvSpPr>
        <p:spPr>
          <a:xfrm rot="0">
            <a:off x="13499593" y="8361477"/>
            <a:ext cx="2807094" cy="357525"/>
          </a:xfrm>
          <a:prstGeom prst="rect">
            <a:avLst/>
          </a:prstGeom>
        </p:spPr>
        <p:txBody>
          <a:bodyPr anchor="t" rtlCol="false" tIns="0" lIns="0" bIns="0" rIns="0">
            <a:spAutoFit/>
          </a:bodyPr>
          <a:lstStyle/>
          <a:p>
            <a:pPr algn="ctr">
              <a:lnSpc>
                <a:spcPts val="2856"/>
              </a:lnSpc>
              <a:spcBef>
                <a:spcPct val="0"/>
              </a:spcBef>
            </a:pPr>
            <a:r>
              <a:rPr lang="en-US" sz="2040">
                <a:solidFill>
                  <a:srgbClr val="EFF1E8"/>
                </a:solidFill>
                <a:latin typeface="Poppins"/>
                <a:ea typeface="Poppins"/>
                <a:cs typeface="Poppins"/>
                <a:sym typeface="Poppins"/>
              </a:rPr>
              <a:t>2 AM</a:t>
            </a:r>
          </a:p>
        </p:txBody>
      </p:sp>
      <p:sp>
        <p:nvSpPr>
          <p:cNvPr name="TextBox 25" id="25"/>
          <p:cNvSpPr txBox="true"/>
          <p:nvPr/>
        </p:nvSpPr>
        <p:spPr>
          <a:xfrm rot="0">
            <a:off x="13499593" y="8972412"/>
            <a:ext cx="2807094" cy="357525"/>
          </a:xfrm>
          <a:prstGeom prst="rect">
            <a:avLst/>
          </a:prstGeom>
        </p:spPr>
        <p:txBody>
          <a:bodyPr anchor="t" rtlCol="false" tIns="0" lIns="0" bIns="0" rIns="0">
            <a:spAutoFit/>
          </a:bodyPr>
          <a:lstStyle/>
          <a:p>
            <a:pPr algn="ctr">
              <a:lnSpc>
                <a:spcPts val="2856"/>
              </a:lnSpc>
              <a:spcBef>
                <a:spcPct val="0"/>
              </a:spcBef>
            </a:pPr>
            <a:r>
              <a:rPr lang="en-US" sz="2040">
                <a:solidFill>
                  <a:srgbClr val="EFF1E8"/>
                </a:solidFill>
                <a:latin typeface="Poppins"/>
                <a:ea typeface="Poppins"/>
                <a:cs typeface="Poppins"/>
                <a:sym typeface="Poppins"/>
              </a:rPr>
              <a:t>9 PM</a:t>
            </a:r>
          </a:p>
        </p:txBody>
      </p:sp>
      <p:grpSp>
        <p:nvGrpSpPr>
          <p:cNvPr name="Group 26" id="26"/>
          <p:cNvGrpSpPr/>
          <p:nvPr/>
        </p:nvGrpSpPr>
        <p:grpSpPr>
          <a:xfrm rot="0">
            <a:off x="6498581" y="6180257"/>
            <a:ext cx="4986853" cy="1733847"/>
            <a:chOff x="0" y="0"/>
            <a:chExt cx="6649137" cy="2311795"/>
          </a:xfrm>
        </p:grpSpPr>
        <p:grpSp>
          <p:nvGrpSpPr>
            <p:cNvPr name="Group 27" id="27"/>
            <p:cNvGrpSpPr/>
            <p:nvPr/>
          </p:nvGrpSpPr>
          <p:grpSpPr>
            <a:xfrm rot="0">
              <a:off x="0" y="0"/>
              <a:ext cx="6649137" cy="2311795"/>
              <a:chOff x="0" y="0"/>
              <a:chExt cx="1313410" cy="456651"/>
            </a:xfrm>
          </p:grpSpPr>
          <p:sp>
            <p:nvSpPr>
              <p:cNvPr name="Freeform 28" id="28"/>
              <p:cNvSpPr/>
              <p:nvPr/>
            </p:nvSpPr>
            <p:spPr>
              <a:xfrm flipH="false" flipV="false" rot="0">
                <a:off x="0" y="0"/>
                <a:ext cx="1313410" cy="456651"/>
              </a:xfrm>
              <a:custGeom>
                <a:avLst/>
                <a:gdLst/>
                <a:ahLst/>
                <a:cxnLst/>
                <a:rect r="r" b="b" t="t" l="l"/>
                <a:pathLst>
                  <a:path h="456651" w="1313410">
                    <a:moveTo>
                      <a:pt x="24839" y="0"/>
                    </a:moveTo>
                    <a:lnTo>
                      <a:pt x="1288570" y="0"/>
                    </a:lnTo>
                    <a:cubicBezTo>
                      <a:pt x="1302289" y="0"/>
                      <a:pt x="1313410" y="11121"/>
                      <a:pt x="1313410" y="24839"/>
                    </a:cubicBezTo>
                    <a:lnTo>
                      <a:pt x="1313410" y="431811"/>
                    </a:lnTo>
                    <a:cubicBezTo>
                      <a:pt x="1313410" y="438399"/>
                      <a:pt x="1310793" y="444717"/>
                      <a:pt x="1306134" y="449376"/>
                    </a:cubicBezTo>
                    <a:cubicBezTo>
                      <a:pt x="1301476" y="454034"/>
                      <a:pt x="1295158" y="456651"/>
                      <a:pt x="1288570" y="456651"/>
                    </a:cubicBezTo>
                    <a:lnTo>
                      <a:pt x="24839" y="456651"/>
                    </a:lnTo>
                    <a:cubicBezTo>
                      <a:pt x="11121" y="456651"/>
                      <a:pt x="0" y="445530"/>
                      <a:pt x="0" y="431811"/>
                    </a:cubicBezTo>
                    <a:lnTo>
                      <a:pt x="0" y="24839"/>
                    </a:lnTo>
                    <a:cubicBezTo>
                      <a:pt x="0" y="11121"/>
                      <a:pt x="11121" y="0"/>
                      <a:pt x="24839" y="0"/>
                    </a:cubicBezTo>
                    <a:close/>
                  </a:path>
                </a:pathLst>
              </a:custGeom>
              <a:solidFill>
                <a:srgbClr val="EFF1E8"/>
              </a:solidFill>
            </p:spPr>
          </p:sp>
          <p:sp>
            <p:nvSpPr>
              <p:cNvPr name="TextBox 29" id="29"/>
              <p:cNvSpPr txBox="true"/>
              <p:nvPr/>
            </p:nvSpPr>
            <p:spPr>
              <a:xfrm>
                <a:off x="0" y="-38100"/>
                <a:ext cx="1313410" cy="494751"/>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418351" y="467571"/>
              <a:ext cx="5728765" cy="430742"/>
            </a:xfrm>
            <a:prstGeom prst="rect">
              <a:avLst/>
            </a:prstGeom>
          </p:spPr>
          <p:txBody>
            <a:bodyPr anchor="t" rtlCol="false" tIns="0" lIns="0" bIns="0" rIns="0">
              <a:spAutoFit/>
            </a:bodyPr>
            <a:lstStyle/>
            <a:p>
              <a:pPr algn="l">
                <a:lnSpc>
                  <a:spcPts val="2799"/>
                </a:lnSpc>
                <a:spcBef>
                  <a:spcPct val="0"/>
                </a:spcBef>
              </a:pPr>
              <a:r>
                <a:rPr lang="en-US" b="true" sz="1999">
                  <a:solidFill>
                    <a:srgbClr val="70A1BD"/>
                  </a:solidFill>
                  <a:latin typeface="Montserrat Bold"/>
                  <a:ea typeface="Montserrat Bold"/>
                  <a:cs typeface="Montserrat Bold"/>
                  <a:sym typeface="Montserrat Bold"/>
                </a:rPr>
                <a:t>Longest Wait-Time Experienced</a:t>
              </a:r>
            </a:p>
          </p:txBody>
        </p:sp>
        <p:sp>
          <p:nvSpPr>
            <p:cNvPr name="TextBox 31" id="31"/>
            <p:cNvSpPr txBox="true"/>
            <p:nvPr/>
          </p:nvSpPr>
          <p:spPr>
            <a:xfrm rot="0">
              <a:off x="418351" y="1054250"/>
              <a:ext cx="5421974" cy="929217"/>
            </a:xfrm>
            <a:prstGeom prst="rect">
              <a:avLst/>
            </a:prstGeom>
          </p:spPr>
          <p:txBody>
            <a:bodyPr anchor="t" rtlCol="false" tIns="0" lIns="0" bIns="0" rIns="0">
              <a:spAutoFit/>
            </a:bodyPr>
            <a:lstStyle/>
            <a:p>
              <a:pPr algn="l">
                <a:lnSpc>
                  <a:spcPts val="2799"/>
                </a:lnSpc>
                <a:spcBef>
                  <a:spcPct val="0"/>
                </a:spcBef>
              </a:pPr>
              <a:r>
                <a:rPr lang="en-US" b="true" sz="1999">
                  <a:solidFill>
                    <a:srgbClr val="70A1BD"/>
                  </a:solidFill>
                  <a:latin typeface="Poppins Bold"/>
                  <a:ea typeface="Poppins Bold"/>
                  <a:cs typeface="Poppins Bold"/>
                  <a:sym typeface="Poppins Bold"/>
                </a:rPr>
                <a:t>180 min</a:t>
              </a:r>
              <a:r>
                <a:rPr lang="en-US" sz="1999">
                  <a:solidFill>
                    <a:srgbClr val="70A1BD"/>
                  </a:solidFill>
                  <a:latin typeface="Poppins"/>
                  <a:ea typeface="Poppins"/>
                  <a:cs typeface="Poppins"/>
                  <a:sym typeface="Poppins"/>
                </a:rPr>
                <a:t> on Mondays, Tuesdays, Thursdays, and Saturdays</a:t>
              </a:r>
            </a:p>
          </p:txBody>
        </p:sp>
      </p:grpSp>
      <p:pic>
        <p:nvPicPr>
          <p:cNvPr name="Picture 32" id="32"/>
          <p:cNvPicPr>
            <a:picLocks noChangeAspect="true"/>
          </p:cNvPicPr>
          <p:nvPr/>
        </p:nvPicPr>
        <p:blipFill>
          <a:blip r:embed="rId4"/>
          <a:stretch>
            <a:fillRect/>
          </a:stretch>
        </p:blipFill>
        <p:spPr>
          <a:xfrm rot="0">
            <a:off x="5999896" y="2592102"/>
            <a:ext cx="5984224" cy="3857367"/>
          </a:xfrm>
          <a:prstGeom prst="rect">
            <a:avLst/>
          </a:prstGeom>
        </p:spPr>
      </p:pic>
      <p:sp>
        <p:nvSpPr>
          <p:cNvPr name="TextBox 33" id="33"/>
          <p:cNvSpPr txBox="true"/>
          <p:nvPr/>
        </p:nvSpPr>
        <p:spPr>
          <a:xfrm rot="0">
            <a:off x="1720741" y="3839323"/>
            <a:ext cx="647757" cy="528026"/>
          </a:xfrm>
          <a:prstGeom prst="rect">
            <a:avLst/>
          </a:prstGeom>
        </p:spPr>
        <p:txBody>
          <a:bodyPr anchor="t" rtlCol="false" tIns="0" lIns="0" bIns="0" rIns="0">
            <a:spAutoFit/>
          </a:bodyPr>
          <a:lstStyle/>
          <a:p>
            <a:pPr algn="l">
              <a:lnSpc>
                <a:spcPts val="4351"/>
              </a:lnSpc>
              <a:spcBef>
                <a:spcPct val="0"/>
              </a:spcBef>
            </a:pPr>
            <a:r>
              <a:rPr lang="en-US" b="true" sz="3108">
                <a:solidFill>
                  <a:srgbClr val="70A1BD"/>
                </a:solidFill>
                <a:latin typeface="Montserrat Bold"/>
                <a:ea typeface="Montserrat Bold"/>
                <a:cs typeface="Montserrat Bold"/>
                <a:sym typeface="Montserrat Bold"/>
              </a:rPr>
              <a:t>5</a:t>
            </a:r>
          </a:p>
        </p:txBody>
      </p:sp>
      <p:grpSp>
        <p:nvGrpSpPr>
          <p:cNvPr name="Group 34" id="34"/>
          <p:cNvGrpSpPr/>
          <p:nvPr/>
        </p:nvGrpSpPr>
        <p:grpSpPr>
          <a:xfrm rot="0">
            <a:off x="748412" y="3337726"/>
            <a:ext cx="2388522" cy="1885743"/>
            <a:chOff x="0" y="0"/>
            <a:chExt cx="1307450" cy="1032235"/>
          </a:xfrm>
        </p:grpSpPr>
        <p:sp>
          <p:nvSpPr>
            <p:cNvPr name="Freeform 35" id="35"/>
            <p:cNvSpPr/>
            <p:nvPr/>
          </p:nvSpPr>
          <p:spPr>
            <a:xfrm flipH="false" flipV="false" rot="0">
              <a:off x="0" y="0"/>
              <a:ext cx="1307450" cy="1032235"/>
            </a:xfrm>
            <a:custGeom>
              <a:avLst/>
              <a:gdLst/>
              <a:ahLst/>
              <a:cxnLst/>
              <a:rect r="r" b="b" t="t" l="l"/>
              <a:pathLst>
                <a:path h="1032235" w="1307450">
                  <a:moveTo>
                    <a:pt x="165306" y="0"/>
                  </a:moveTo>
                  <a:lnTo>
                    <a:pt x="1142144" y="0"/>
                  </a:lnTo>
                  <a:cubicBezTo>
                    <a:pt x="1233440" y="0"/>
                    <a:pt x="1307450" y="74010"/>
                    <a:pt x="1307450" y="165306"/>
                  </a:cubicBezTo>
                  <a:lnTo>
                    <a:pt x="1307450" y="866929"/>
                  </a:lnTo>
                  <a:cubicBezTo>
                    <a:pt x="1307450" y="958225"/>
                    <a:pt x="1233440" y="1032235"/>
                    <a:pt x="1142144" y="1032235"/>
                  </a:cubicBezTo>
                  <a:lnTo>
                    <a:pt x="165306" y="1032235"/>
                  </a:lnTo>
                  <a:cubicBezTo>
                    <a:pt x="74010" y="1032235"/>
                    <a:pt x="0" y="958225"/>
                    <a:pt x="0" y="866929"/>
                  </a:cubicBezTo>
                  <a:lnTo>
                    <a:pt x="0" y="165306"/>
                  </a:lnTo>
                  <a:cubicBezTo>
                    <a:pt x="0" y="74010"/>
                    <a:pt x="74010" y="0"/>
                    <a:pt x="165306" y="0"/>
                  </a:cubicBezTo>
                  <a:close/>
                </a:path>
              </a:pathLst>
            </a:custGeom>
            <a:solidFill>
              <a:srgbClr val="EFF1E8"/>
            </a:solidFill>
          </p:spPr>
        </p:sp>
        <p:sp>
          <p:nvSpPr>
            <p:cNvPr name="TextBox 36" id="36"/>
            <p:cNvSpPr txBox="true"/>
            <p:nvPr/>
          </p:nvSpPr>
          <p:spPr>
            <a:xfrm>
              <a:off x="0" y="-38100"/>
              <a:ext cx="1307450" cy="1070335"/>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848105" y="3354477"/>
            <a:ext cx="2189136" cy="729779"/>
          </a:xfrm>
          <a:prstGeom prst="rect">
            <a:avLst/>
          </a:prstGeom>
        </p:spPr>
        <p:txBody>
          <a:bodyPr anchor="t" rtlCol="false" tIns="0" lIns="0" bIns="0" rIns="0">
            <a:spAutoFit/>
          </a:bodyPr>
          <a:lstStyle/>
          <a:p>
            <a:pPr algn="ctr">
              <a:lnSpc>
                <a:spcPts val="5927"/>
              </a:lnSpc>
              <a:spcBef>
                <a:spcPct val="0"/>
              </a:spcBef>
            </a:pPr>
            <a:r>
              <a:rPr lang="en-US" b="true" sz="4234">
                <a:solidFill>
                  <a:srgbClr val="70A1BD"/>
                </a:solidFill>
                <a:latin typeface="Montserrat Bold"/>
                <a:ea typeface="Montserrat Bold"/>
                <a:cs typeface="Montserrat Bold"/>
                <a:sym typeface="Montserrat Bold"/>
              </a:rPr>
              <a:t>74 min</a:t>
            </a:r>
          </a:p>
        </p:txBody>
      </p:sp>
      <p:sp>
        <p:nvSpPr>
          <p:cNvPr name="TextBox 38" id="38"/>
          <p:cNvSpPr txBox="true"/>
          <p:nvPr/>
        </p:nvSpPr>
        <p:spPr>
          <a:xfrm rot="0">
            <a:off x="802377" y="4129084"/>
            <a:ext cx="2280592" cy="942219"/>
          </a:xfrm>
          <a:prstGeom prst="rect">
            <a:avLst/>
          </a:prstGeom>
        </p:spPr>
        <p:txBody>
          <a:bodyPr anchor="t" rtlCol="false" tIns="0" lIns="0" bIns="0" rIns="0">
            <a:spAutoFit/>
          </a:bodyPr>
          <a:lstStyle/>
          <a:p>
            <a:pPr algn="ctr">
              <a:lnSpc>
                <a:spcPts val="3695"/>
              </a:lnSpc>
            </a:pPr>
            <a:r>
              <a:rPr lang="en-US" sz="2886" i="true">
                <a:solidFill>
                  <a:srgbClr val="70A1BD"/>
                </a:solidFill>
                <a:latin typeface="Poppins Italics"/>
                <a:ea typeface="Poppins Italics"/>
                <a:cs typeface="Poppins Italics"/>
                <a:sym typeface="Poppins Italics"/>
              </a:rPr>
              <a:t>Avg</a:t>
            </a:r>
          </a:p>
          <a:p>
            <a:pPr algn="ctr">
              <a:lnSpc>
                <a:spcPts val="3695"/>
              </a:lnSpc>
            </a:pPr>
            <a:r>
              <a:rPr lang="en-US" sz="2886">
                <a:solidFill>
                  <a:srgbClr val="70A1BD"/>
                </a:solidFill>
                <a:latin typeface="Poppins"/>
                <a:ea typeface="Poppins"/>
                <a:cs typeface="Poppins"/>
                <a:sym typeface="Poppins"/>
              </a:rPr>
              <a:t>Wait</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057517" y="5129931"/>
            <a:ext cx="12527278" cy="1236209"/>
            <a:chOff x="0" y="0"/>
            <a:chExt cx="3299365" cy="325586"/>
          </a:xfrm>
        </p:grpSpPr>
        <p:sp>
          <p:nvSpPr>
            <p:cNvPr name="Freeform 3" id="3"/>
            <p:cNvSpPr/>
            <p:nvPr/>
          </p:nvSpPr>
          <p:spPr>
            <a:xfrm flipH="false" flipV="false" rot="0">
              <a:off x="0" y="0"/>
              <a:ext cx="3299366" cy="325586"/>
            </a:xfrm>
            <a:custGeom>
              <a:avLst/>
              <a:gdLst/>
              <a:ahLst/>
              <a:cxnLst/>
              <a:rect r="r" b="b" t="t" l="l"/>
              <a:pathLst>
                <a:path h="325586" w="3299366">
                  <a:moveTo>
                    <a:pt x="31518" y="0"/>
                  </a:moveTo>
                  <a:lnTo>
                    <a:pt x="3267847" y="0"/>
                  </a:lnTo>
                  <a:cubicBezTo>
                    <a:pt x="3276207" y="0"/>
                    <a:pt x="3284223" y="3321"/>
                    <a:pt x="3290134" y="9231"/>
                  </a:cubicBezTo>
                  <a:cubicBezTo>
                    <a:pt x="3296045" y="15142"/>
                    <a:pt x="3299366" y="23159"/>
                    <a:pt x="3299366" y="31518"/>
                  </a:cubicBezTo>
                  <a:lnTo>
                    <a:pt x="3299366" y="294068"/>
                  </a:lnTo>
                  <a:cubicBezTo>
                    <a:pt x="3299366" y="302427"/>
                    <a:pt x="3296045" y="310444"/>
                    <a:pt x="3290134" y="316354"/>
                  </a:cubicBezTo>
                  <a:cubicBezTo>
                    <a:pt x="3284223" y="322265"/>
                    <a:pt x="3276207" y="325586"/>
                    <a:pt x="3267847" y="325586"/>
                  </a:cubicBezTo>
                  <a:lnTo>
                    <a:pt x="31518" y="325586"/>
                  </a:lnTo>
                  <a:cubicBezTo>
                    <a:pt x="23159" y="325586"/>
                    <a:pt x="15142" y="322265"/>
                    <a:pt x="9231" y="316354"/>
                  </a:cubicBezTo>
                  <a:cubicBezTo>
                    <a:pt x="3321" y="310444"/>
                    <a:pt x="0" y="302427"/>
                    <a:pt x="0" y="294068"/>
                  </a:cubicBezTo>
                  <a:lnTo>
                    <a:pt x="0" y="31518"/>
                  </a:lnTo>
                  <a:cubicBezTo>
                    <a:pt x="0" y="23159"/>
                    <a:pt x="3321" y="15142"/>
                    <a:pt x="9231" y="9231"/>
                  </a:cubicBezTo>
                  <a:cubicBezTo>
                    <a:pt x="15142" y="3321"/>
                    <a:pt x="23159" y="0"/>
                    <a:pt x="31518" y="0"/>
                  </a:cubicBezTo>
                  <a:close/>
                </a:path>
              </a:pathLst>
            </a:custGeom>
            <a:solidFill>
              <a:srgbClr val="343734"/>
            </a:solidFill>
          </p:spPr>
        </p:sp>
        <p:sp>
          <p:nvSpPr>
            <p:cNvPr name="TextBox 4" id="4"/>
            <p:cNvSpPr txBox="true"/>
            <p:nvPr/>
          </p:nvSpPr>
          <p:spPr>
            <a:xfrm>
              <a:off x="0" y="-38100"/>
              <a:ext cx="3299365" cy="36368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6787795"/>
            <a:ext cx="12546238" cy="1674732"/>
            <a:chOff x="0" y="0"/>
            <a:chExt cx="3304359" cy="441082"/>
          </a:xfrm>
        </p:grpSpPr>
        <p:sp>
          <p:nvSpPr>
            <p:cNvPr name="Freeform 6" id="6"/>
            <p:cNvSpPr/>
            <p:nvPr/>
          </p:nvSpPr>
          <p:spPr>
            <a:xfrm flipH="false" flipV="false" rot="0">
              <a:off x="0" y="0"/>
              <a:ext cx="3304359" cy="441082"/>
            </a:xfrm>
            <a:custGeom>
              <a:avLst/>
              <a:gdLst/>
              <a:ahLst/>
              <a:cxnLst/>
              <a:rect r="r" b="b" t="t" l="l"/>
              <a:pathLst>
                <a:path h="441082" w="3304359">
                  <a:moveTo>
                    <a:pt x="31471" y="0"/>
                  </a:moveTo>
                  <a:lnTo>
                    <a:pt x="3272888" y="0"/>
                  </a:lnTo>
                  <a:cubicBezTo>
                    <a:pt x="3290269" y="0"/>
                    <a:pt x="3304359" y="14090"/>
                    <a:pt x="3304359" y="31471"/>
                  </a:cubicBezTo>
                  <a:lnTo>
                    <a:pt x="3304359" y="409611"/>
                  </a:lnTo>
                  <a:cubicBezTo>
                    <a:pt x="3304359" y="417958"/>
                    <a:pt x="3301043" y="425962"/>
                    <a:pt x="3295141" y="431864"/>
                  </a:cubicBezTo>
                  <a:cubicBezTo>
                    <a:pt x="3289240" y="437766"/>
                    <a:pt x="3281235" y="441082"/>
                    <a:pt x="3272888" y="441082"/>
                  </a:cubicBezTo>
                  <a:lnTo>
                    <a:pt x="31471" y="441082"/>
                  </a:lnTo>
                  <a:cubicBezTo>
                    <a:pt x="14090" y="441082"/>
                    <a:pt x="0" y="426992"/>
                    <a:pt x="0" y="409611"/>
                  </a:cubicBezTo>
                  <a:lnTo>
                    <a:pt x="0" y="31471"/>
                  </a:lnTo>
                  <a:cubicBezTo>
                    <a:pt x="0" y="14090"/>
                    <a:pt x="14090" y="0"/>
                    <a:pt x="31471" y="0"/>
                  </a:cubicBezTo>
                  <a:close/>
                </a:path>
              </a:pathLst>
            </a:custGeom>
            <a:solidFill>
              <a:srgbClr val="343734"/>
            </a:solidFill>
          </p:spPr>
        </p:sp>
        <p:sp>
          <p:nvSpPr>
            <p:cNvPr name="TextBox 7" id="7"/>
            <p:cNvSpPr txBox="true"/>
            <p:nvPr/>
          </p:nvSpPr>
          <p:spPr>
            <a:xfrm>
              <a:off x="0" y="-38100"/>
              <a:ext cx="3304359" cy="47918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5036845" y="-197439"/>
            <a:ext cx="3765505" cy="11168682"/>
            <a:chOff x="0" y="0"/>
            <a:chExt cx="991738" cy="2941546"/>
          </a:xfrm>
        </p:grpSpPr>
        <p:sp>
          <p:nvSpPr>
            <p:cNvPr name="Freeform 9" id="9"/>
            <p:cNvSpPr/>
            <p:nvPr/>
          </p:nvSpPr>
          <p:spPr>
            <a:xfrm flipH="false" flipV="false" rot="0">
              <a:off x="0" y="0"/>
              <a:ext cx="991738" cy="2941546"/>
            </a:xfrm>
            <a:custGeom>
              <a:avLst/>
              <a:gdLst/>
              <a:ahLst/>
              <a:cxnLst/>
              <a:rect r="r" b="b" t="t" l="l"/>
              <a:pathLst>
                <a:path h="2941546" w="991738">
                  <a:moveTo>
                    <a:pt x="0" y="0"/>
                  </a:moveTo>
                  <a:lnTo>
                    <a:pt x="991738" y="0"/>
                  </a:lnTo>
                  <a:lnTo>
                    <a:pt x="991738" y="2941546"/>
                  </a:lnTo>
                  <a:lnTo>
                    <a:pt x="0" y="2941546"/>
                  </a:lnTo>
                  <a:close/>
                </a:path>
              </a:pathLst>
            </a:custGeom>
            <a:solidFill>
              <a:srgbClr val="343734"/>
            </a:solidFill>
          </p:spPr>
        </p:sp>
        <p:sp>
          <p:nvSpPr>
            <p:cNvPr name="TextBox 10" id="10"/>
            <p:cNvSpPr txBox="true"/>
            <p:nvPr/>
          </p:nvSpPr>
          <p:spPr>
            <a:xfrm>
              <a:off x="0" y="-38100"/>
              <a:ext cx="991738" cy="2979646"/>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1123950"/>
            <a:ext cx="13854017" cy="2473960"/>
          </a:xfrm>
          <a:prstGeom prst="rect">
            <a:avLst/>
          </a:prstGeom>
        </p:spPr>
        <p:txBody>
          <a:bodyPr anchor="t" rtlCol="false" tIns="0" lIns="0" bIns="0" rIns="0">
            <a:spAutoFit/>
          </a:bodyPr>
          <a:lstStyle/>
          <a:p>
            <a:pPr algn="l">
              <a:lnSpc>
                <a:spcPts val="9679"/>
              </a:lnSpc>
            </a:pPr>
            <a:r>
              <a:rPr lang="en-US" b="true" sz="8799">
                <a:solidFill>
                  <a:srgbClr val="EFF1E8"/>
                </a:solidFill>
                <a:latin typeface="Montserrat Bold"/>
                <a:ea typeface="Montserrat Bold"/>
                <a:cs typeface="Montserrat Bold"/>
                <a:sym typeface="Montserrat Bold"/>
              </a:rPr>
              <a:t>Business Recommendations</a:t>
            </a:r>
          </a:p>
        </p:txBody>
      </p:sp>
      <p:sp>
        <p:nvSpPr>
          <p:cNvPr name="TextBox 12" id="12"/>
          <p:cNvSpPr txBox="true"/>
          <p:nvPr/>
        </p:nvSpPr>
        <p:spPr>
          <a:xfrm rot="0">
            <a:off x="1028700" y="3976954"/>
            <a:ext cx="13854017" cy="358775"/>
          </a:xfrm>
          <a:prstGeom prst="rect">
            <a:avLst/>
          </a:prstGeom>
        </p:spPr>
        <p:txBody>
          <a:bodyPr anchor="t" rtlCol="false" tIns="0" lIns="0" bIns="0" rIns="0">
            <a:spAutoFit/>
          </a:bodyPr>
          <a:lstStyle/>
          <a:p>
            <a:pPr algn="l">
              <a:lnSpc>
                <a:spcPts val="2799"/>
              </a:lnSpc>
              <a:spcBef>
                <a:spcPct val="0"/>
              </a:spcBef>
            </a:pPr>
            <a:r>
              <a:rPr lang="en-US" sz="1999" spc="465">
                <a:solidFill>
                  <a:srgbClr val="EFF1E8"/>
                </a:solidFill>
                <a:latin typeface="Poppins"/>
                <a:ea typeface="Poppins"/>
                <a:cs typeface="Poppins"/>
                <a:sym typeface="Poppins"/>
              </a:rPr>
              <a:t>Ensuring High‑Acuity Focus While Optimizing Lower‑Acuity Flow</a:t>
            </a:r>
          </a:p>
        </p:txBody>
      </p:sp>
      <p:sp>
        <p:nvSpPr>
          <p:cNvPr name="TextBox 13" id="13"/>
          <p:cNvSpPr txBox="true"/>
          <p:nvPr/>
        </p:nvSpPr>
        <p:spPr>
          <a:xfrm rot="0">
            <a:off x="1665849" y="5292740"/>
            <a:ext cx="11310614" cy="843915"/>
          </a:xfrm>
          <a:prstGeom prst="rect">
            <a:avLst/>
          </a:prstGeom>
        </p:spPr>
        <p:txBody>
          <a:bodyPr anchor="t" rtlCol="false" tIns="0" lIns="0" bIns="0" rIns="0">
            <a:spAutoFit/>
          </a:bodyPr>
          <a:lstStyle/>
          <a:p>
            <a:pPr algn="l">
              <a:lnSpc>
                <a:spcPts val="3359"/>
              </a:lnSpc>
              <a:spcBef>
                <a:spcPct val="0"/>
              </a:spcBef>
            </a:pPr>
            <a:r>
              <a:rPr lang="en-US" sz="2399">
                <a:solidFill>
                  <a:srgbClr val="EFF1E8"/>
                </a:solidFill>
                <a:latin typeface="Poppins"/>
                <a:ea typeface="Poppins"/>
                <a:cs typeface="Poppins"/>
                <a:sym typeface="Poppins"/>
              </a:rPr>
              <a:t>Evaluate</a:t>
            </a:r>
            <a:r>
              <a:rPr lang="en-US" sz="2399">
                <a:solidFill>
                  <a:srgbClr val="EFF1E8"/>
                </a:solidFill>
                <a:latin typeface="Poppins"/>
                <a:ea typeface="Poppins"/>
                <a:cs typeface="Poppins"/>
                <a:sym typeface="Poppins"/>
              </a:rPr>
              <a:t> staffing and patient flow during peak demand periods: Monday, Tuesday, Thursday, and Saturday, at 12 AM, 2 AM, and 9 PM.</a:t>
            </a:r>
          </a:p>
        </p:txBody>
      </p:sp>
      <p:sp>
        <p:nvSpPr>
          <p:cNvPr name="TextBox 14" id="14"/>
          <p:cNvSpPr txBox="true"/>
          <p:nvPr/>
        </p:nvSpPr>
        <p:spPr>
          <a:xfrm rot="0">
            <a:off x="1348936" y="6960316"/>
            <a:ext cx="11905766" cy="1263015"/>
          </a:xfrm>
          <a:prstGeom prst="rect">
            <a:avLst/>
          </a:prstGeom>
        </p:spPr>
        <p:txBody>
          <a:bodyPr anchor="t" rtlCol="false" tIns="0" lIns="0" bIns="0" rIns="0">
            <a:spAutoFit/>
          </a:bodyPr>
          <a:lstStyle/>
          <a:p>
            <a:pPr algn="l">
              <a:lnSpc>
                <a:spcPts val="3359"/>
              </a:lnSpc>
              <a:spcBef>
                <a:spcPct val="0"/>
              </a:spcBef>
            </a:pPr>
            <a:r>
              <a:rPr lang="en-US" sz="2399">
                <a:solidFill>
                  <a:srgbClr val="EFF1E8"/>
                </a:solidFill>
                <a:latin typeface="Poppins"/>
                <a:ea typeface="Poppins"/>
                <a:cs typeface="Poppins"/>
                <a:sym typeface="Poppins"/>
              </a:rPr>
              <a:t>C</a:t>
            </a:r>
            <a:r>
              <a:rPr lang="en-US" sz="2399">
                <a:solidFill>
                  <a:srgbClr val="EFF1E8"/>
                </a:solidFill>
                <a:latin typeface="Poppins"/>
                <a:ea typeface="Poppins"/>
                <a:cs typeface="Poppins"/>
                <a:sym typeface="Poppins"/>
              </a:rPr>
              <a:t>ontinue prioritizing Critical- and High-severity patients through the current triage process. This is working good. Monitor Low and Medium-severity patient flow to identify opportunities for operational improvements.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true" flipV="true" rot="0">
            <a:off x="16113698" y="1028700"/>
            <a:ext cx="1145602" cy="1145602"/>
          </a:xfrm>
          <a:custGeom>
            <a:avLst/>
            <a:gdLst/>
            <a:ahLst/>
            <a:cxnLst/>
            <a:rect r="r" b="b" t="t" l="l"/>
            <a:pathLst>
              <a:path h="1145602" w="1145602">
                <a:moveTo>
                  <a:pt x="1145602" y="1145602"/>
                </a:moveTo>
                <a:lnTo>
                  <a:pt x="0" y="1145602"/>
                </a:lnTo>
                <a:lnTo>
                  <a:pt x="0" y="0"/>
                </a:lnTo>
                <a:lnTo>
                  <a:pt x="1145602" y="0"/>
                </a:lnTo>
                <a:lnTo>
                  <a:pt x="1145602" y="114560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123950"/>
            <a:ext cx="14608693" cy="1245235"/>
          </a:xfrm>
          <a:prstGeom prst="rect">
            <a:avLst/>
          </a:prstGeom>
        </p:spPr>
        <p:txBody>
          <a:bodyPr anchor="t" rtlCol="false" tIns="0" lIns="0" bIns="0" rIns="0">
            <a:spAutoFit/>
          </a:bodyPr>
          <a:lstStyle/>
          <a:p>
            <a:pPr algn="l">
              <a:lnSpc>
                <a:spcPts val="9679"/>
              </a:lnSpc>
            </a:pPr>
            <a:r>
              <a:rPr lang="en-US" sz="8799" b="true">
                <a:solidFill>
                  <a:srgbClr val="EFF1E8"/>
                </a:solidFill>
                <a:latin typeface="Montserrat Bold"/>
                <a:ea typeface="Montserrat Bold"/>
                <a:cs typeface="Montserrat Bold"/>
                <a:sym typeface="Montserrat Bold"/>
              </a:rPr>
              <a:t>Impact</a:t>
            </a:r>
          </a:p>
        </p:txBody>
      </p:sp>
      <p:grpSp>
        <p:nvGrpSpPr>
          <p:cNvPr name="Group 4" id="4"/>
          <p:cNvGrpSpPr/>
          <p:nvPr/>
        </p:nvGrpSpPr>
        <p:grpSpPr>
          <a:xfrm rot="0">
            <a:off x="2548950" y="4251929"/>
            <a:ext cx="13190100" cy="2263863"/>
            <a:chOff x="0" y="0"/>
            <a:chExt cx="17586800" cy="3018483"/>
          </a:xfrm>
        </p:grpSpPr>
        <p:grpSp>
          <p:nvGrpSpPr>
            <p:cNvPr name="Group 5" id="5"/>
            <p:cNvGrpSpPr/>
            <p:nvPr/>
          </p:nvGrpSpPr>
          <p:grpSpPr>
            <a:xfrm rot="0">
              <a:off x="0" y="0"/>
              <a:ext cx="17586800" cy="3018483"/>
              <a:chOff x="0" y="0"/>
              <a:chExt cx="3473936" cy="596244"/>
            </a:xfrm>
          </p:grpSpPr>
          <p:sp>
            <p:nvSpPr>
              <p:cNvPr name="Freeform 6" id="6"/>
              <p:cNvSpPr/>
              <p:nvPr/>
            </p:nvSpPr>
            <p:spPr>
              <a:xfrm flipH="false" flipV="false" rot="0">
                <a:off x="0" y="0"/>
                <a:ext cx="3473936" cy="596244"/>
              </a:xfrm>
              <a:custGeom>
                <a:avLst/>
                <a:gdLst/>
                <a:ahLst/>
                <a:cxnLst/>
                <a:rect r="r" b="b" t="t" l="l"/>
                <a:pathLst>
                  <a:path h="596244" w="3473936">
                    <a:moveTo>
                      <a:pt x="29934" y="0"/>
                    </a:moveTo>
                    <a:lnTo>
                      <a:pt x="3444001" y="0"/>
                    </a:lnTo>
                    <a:cubicBezTo>
                      <a:pt x="3451940" y="0"/>
                      <a:pt x="3459554" y="3154"/>
                      <a:pt x="3465168" y="8768"/>
                    </a:cubicBezTo>
                    <a:cubicBezTo>
                      <a:pt x="3470782" y="14381"/>
                      <a:pt x="3473936" y="21995"/>
                      <a:pt x="3473936" y="29934"/>
                    </a:cubicBezTo>
                    <a:lnTo>
                      <a:pt x="3473936" y="566309"/>
                    </a:lnTo>
                    <a:cubicBezTo>
                      <a:pt x="3473936" y="574248"/>
                      <a:pt x="3470782" y="581862"/>
                      <a:pt x="3465168" y="587476"/>
                    </a:cubicBezTo>
                    <a:cubicBezTo>
                      <a:pt x="3459554" y="593090"/>
                      <a:pt x="3451940" y="596244"/>
                      <a:pt x="3444001" y="596244"/>
                    </a:cubicBezTo>
                    <a:lnTo>
                      <a:pt x="29934" y="596244"/>
                    </a:lnTo>
                    <a:cubicBezTo>
                      <a:pt x="21995" y="596244"/>
                      <a:pt x="14381" y="593090"/>
                      <a:pt x="8768" y="587476"/>
                    </a:cubicBezTo>
                    <a:cubicBezTo>
                      <a:pt x="3154" y="581862"/>
                      <a:pt x="0" y="574248"/>
                      <a:pt x="0" y="566309"/>
                    </a:cubicBezTo>
                    <a:lnTo>
                      <a:pt x="0" y="29934"/>
                    </a:lnTo>
                    <a:cubicBezTo>
                      <a:pt x="0" y="21995"/>
                      <a:pt x="3154" y="14381"/>
                      <a:pt x="8768" y="8768"/>
                    </a:cubicBezTo>
                    <a:cubicBezTo>
                      <a:pt x="14381" y="3154"/>
                      <a:pt x="21995" y="0"/>
                      <a:pt x="29934" y="0"/>
                    </a:cubicBezTo>
                    <a:close/>
                  </a:path>
                </a:pathLst>
              </a:custGeom>
              <a:solidFill>
                <a:srgbClr val="343734"/>
              </a:solidFill>
            </p:spPr>
          </p:sp>
          <p:sp>
            <p:nvSpPr>
              <p:cNvPr name="TextBox 7" id="7"/>
              <p:cNvSpPr txBox="true"/>
              <p:nvPr/>
            </p:nvSpPr>
            <p:spPr>
              <a:xfrm>
                <a:off x="0" y="-38100"/>
                <a:ext cx="3473936" cy="634344"/>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544904" y="365606"/>
              <a:ext cx="16496991" cy="2220596"/>
            </a:xfrm>
            <a:prstGeom prst="rect">
              <a:avLst/>
            </a:prstGeom>
          </p:spPr>
          <p:txBody>
            <a:bodyPr anchor="t" rtlCol="false" tIns="0" lIns="0" bIns="0" rIns="0">
              <a:spAutoFit/>
            </a:bodyPr>
            <a:lstStyle/>
            <a:p>
              <a:pPr algn="l">
                <a:lnSpc>
                  <a:spcPts val="3359"/>
                </a:lnSpc>
                <a:spcBef>
                  <a:spcPct val="0"/>
                </a:spcBef>
              </a:pPr>
              <a:r>
                <a:rPr lang="en-US" sz="2399">
                  <a:solidFill>
                    <a:srgbClr val="EFF1E8"/>
                  </a:solidFill>
                  <a:latin typeface="Poppins"/>
                  <a:ea typeface="Poppins"/>
                  <a:cs typeface="Poppins"/>
                  <a:sym typeface="Poppins"/>
                </a:rPr>
                <a:t>This</a:t>
              </a:r>
              <a:r>
                <a:rPr lang="en-US" sz="2399">
                  <a:solidFill>
                    <a:srgbClr val="EFF1E8"/>
                  </a:solidFill>
                  <a:latin typeface="Poppins"/>
                  <a:ea typeface="Poppins"/>
                  <a:cs typeface="Poppins"/>
                  <a:sym typeface="Poppins"/>
                </a:rPr>
                <a:t> analysis equipped stakeholders with clear operational signals behind prolonged wait times, enabling them to pursue targeted follow‑up questions and make more informed, data‑driven decisions about staffing, peak‑period capacity, and patient flow.</a:t>
              </a:r>
            </a:p>
          </p:txBody>
        </p:sp>
      </p:grpSp>
      <p:sp>
        <p:nvSpPr>
          <p:cNvPr name="Freeform 9" id="9"/>
          <p:cNvSpPr/>
          <p:nvPr/>
        </p:nvSpPr>
        <p:spPr>
          <a:xfrm flipH="true" flipV="false" rot="0">
            <a:off x="16113698" y="8112698"/>
            <a:ext cx="1145602" cy="1145602"/>
          </a:xfrm>
          <a:custGeom>
            <a:avLst/>
            <a:gdLst/>
            <a:ahLst/>
            <a:cxnLst/>
            <a:rect r="r" b="b" t="t" l="l"/>
            <a:pathLst>
              <a:path h="1145602" w="1145602">
                <a:moveTo>
                  <a:pt x="1145602" y="0"/>
                </a:moveTo>
                <a:lnTo>
                  <a:pt x="0" y="0"/>
                </a:lnTo>
                <a:lnTo>
                  <a:pt x="0" y="1145602"/>
                </a:lnTo>
                <a:lnTo>
                  <a:pt x="1145602" y="1145602"/>
                </a:lnTo>
                <a:lnTo>
                  <a:pt x="11456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TextBox 2" id="2"/>
          <p:cNvSpPr txBox="true"/>
          <p:nvPr/>
        </p:nvSpPr>
        <p:spPr>
          <a:xfrm rot="0">
            <a:off x="1028700" y="2570027"/>
            <a:ext cx="13854017" cy="711200"/>
          </a:xfrm>
          <a:prstGeom prst="rect">
            <a:avLst/>
          </a:prstGeom>
        </p:spPr>
        <p:txBody>
          <a:bodyPr anchor="t" rtlCol="false" tIns="0" lIns="0" bIns="0" rIns="0">
            <a:spAutoFit/>
          </a:bodyPr>
          <a:lstStyle/>
          <a:p>
            <a:pPr algn="l">
              <a:lnSpc>
                <a:spcPts val="2799"/>
              </a:lnSpc>
              <a:spcBef>
                <a:spcPct val="0"/>
              </a:spcBef>
            </a:pPr>
            <a:r>
              <a:rPr lang="en-US" sz="1999" spc="465">
                <a:solidFill>
                  <a:srgbClr val="343734"/>
                </a:solidFill>
                <a:latin typeface="Poppins"/>
                <a:ea typeface="Poppins"/>
                <a:cs typeface="Poppins"/>
                <a:sym typeface="Poppins"/>
              </a:rPr>
              <a:t>After initial findings, stakeholders requested additional insight to determine causes of long wait-times in the emergency department</a:t>
            </a:r>
          </a:p>
        </p:txBody>
      </p:sp>
      <p:sp>
        <p:nvSpPr>
          <p:cNvPr name="TextBox 3" id="3"/>
          <p:cNvSpPr txBox="true"/>
          <p:nvPr/>
        </p:nvSpPr>
        <p:spPr>
          <a:xfrm rot="0">
            <a:off x="1028700" y="1123950"/>
            <a:ext cx="13854017" cy="1245235"/>
          </a:xfrm>
          <a:prstGeom prst="rect">
            <a:avLst/>
          </a:prstGeom>
        </p:spPr>
        <p:txBody>
          <a:bodyPr anchor="t" rtlCol="false" tIns="0" lIns="0" bIns="0" rIns="0">
            <a:spAutoFit/>
          </a:bodyPr>
          <a:lstStyle/>
          <a:p>
            <a:pPr algn="l">
              <a:lnSpc>
                <a:spcPts val="9679"/>
              </a:lnSpc>
            </a:pPr>
            <a:r>
              <a:rPr lang="en-US" sz="8799" b="true">
                <a:solidFill>
                  <a:srgbClr val="EFF1E8"/>
                </a:solidFill>
                <a:latin typeface="Montserrat Bold"/>
                <a:ea typeface="Montserrat Bold"/>
                <a:cs typeface="Montserrat Bold"/>
                <a:sym typeface="Montserrat Bold"/>
              </a:rPr>
              <a:t>Follow Up Insights</a:t>
            </a:r>
          </a:p>
        </p:txBody>
      </p:sp>
      <p:grpSp>
        <p:nvGrpSpPr>
          <p:cNvPr name="Group 4" id="4"/>
          <p:cNvGrpSpPr/>
          <p:nvPr/>
        </p:nvGrpSpPr>
        <p:grpSpPr>
          <a:xfrm rot="0">
            <a:off x="5104894" y="3858694"/>
            <a:ext cx="3703964" cy="4433883"/>
            <a:chOff x="0" y="0"/>
            <a:chExt cx="812800" cy="972974"/>
          </a:xfrm>
        </p:grpSpPr>
        <p:sp>
          <p:nvSpPr>
            <p:cNvPr name="Freeform 5" id="5"/>
            <p:cNvSpPr/>
            <p:nvPr/>
          </p:nvSpPr>
          <p:spPr>
            <a:xfrm flipH="false" flipV="false" rot="0">
              <a:off x="0" y="0"/>
              <a:ext cx="812800" cy="972974"/>
            </a:xfrm>
            <a:custGeom>
              <a:avLst/>
              <a:gdLst/>
              <a:ahLst/>
              <a:cxnLst/>
              <a:rect r="r" b="b" t="t" l="l"/>
              <a:pathLst>
                <a:path h="972974" w="812800">
                  <a:moveTo>
                    <a:pt x="106599" y="0"/>
                  </a:moveTo>
                  <a:lnTo>
                    <a:pt x="706201" y="0"/>
                  </a:lnTo>
                  <a:cubicBezTo>
                    <a:pt x="765074" y="0"/>
                    <a:pt x="812800" y="47726"/>
                    <a:pt x="812800" y="106599"/>
                  </a:cubicBezTo>
                  <a:lnTo>
                    <a:pt x="812800" y="866375"/>
                  </a:lnTo>
                  <a:cubicBezTo>
                    <a:pt x="812800" y="925248"/>
                    <a:pt x="765074" y="972974"/>
                    <a:pt x="706201" y="972974"/>
                  </a:cubicBezTo>
                  <a:lnTo>
                    <a:pt x="106599" y="972974"/>
                  </a:lnTo>
                  <a:cubicBezTo>
                    <a:pt x="78327" y="972974"/>
                    <a:pt x="51213" y="961743"/>
                    <a:pt x="31222" y="941752"/>
                  </a:cubicBezTo>
                  <a:cubicBezTo>
                    <a:pt x="11231" y="921761"/>
                    <a:pt x="0" y="894647"/>
                    <a:pt x="0" y="866375"/>
                  </a:cubicBezTo>
                  <a:lnTo>
                    <a:pt x="0" y="106599"/>
                  </a:lnTo>
                  <a:cubicBezTo>
                    <a:pt x="0" y="47726"/>
                    <a:pt x="47726" y="0"/>
                    <a:pt x="106599" y="0"/>
                  </a:cubicBezTo>
                  <a:close/>
                </a:path>
              </a:pathLst>
            </a:custGeom>
            <a:ln w="38100" cap="rnd">
              <a:solidFill>
                <a:srgbClr val="EFF1E8"/>
              </a:solidFill>
              <a:prstDash val="solid"/>
              <a:round/>
            </a:ln>
          </p:spPr>
        </p:sp>
        <p:sp>
          <p:nvSpPr>
            <p:cNvPr name="TextBox 6" id="6"/>
            <p:cNvSpPr txBox="true"/>
            <p:nvPr/>
          </p:nvSpPr>
          <p:spPr>
            <a:xfrm>
              <a:off x="0" y="-57150"/>
              <a:ext cx="812800" cy="1030124"/>
            </a:xfrm>
            <a:prstGeom prst="rect">
              <a:avLst/>
            </a:prstGeom>
          </p:spPr>
          <p:txBody>
            <a:bodyPr anchor="ctr" rtlCol="false" tIns="50800" lIns="50800" bIns="50800" rIns="50800"/>
            <a:lstStyle/>
            <a:p>
              <a:pPr algn="ctr">
                <a:lnSpc>
                  <a:spcPts val="2799"/>
                </a:lnSpc>
              </a:pPr>
            </a:p>
          </p:txBody>
        </p:sp>
      </p:grpSp>
      <p:sp>
        <p:nvSpPr>
          <p:cNvPr name="Freeform 7" id="7"/>
          <p:cNvSpPr/>
          <p:nvPr/>
        </p:nvSpPr>
        <p:spPr>
          <a:xfrm flipH="false" flipV="false" rot="0">
            <a:off x="6542604" y="4024971"/>
            <a:ext cx="919499" cy="1033145"/>
          </a:xfrm>
          <a:custGeom>
            <a:avLst/>
            <a:gdLst/>
            <a:ahLst/>
            <a:cxnLst/>
            <a:rect r="r" b="b" t="t" l="l"/>
            <a:pathLst>
              <a:path h="1033145" w="919499">
                <a:moveTo>
                  <a:pt x="0" y="0"/>
                </a:moveTo>
                <a:lnTo>
                  <a:pt x="919499" y="0"/>
                </a:lnTo>
                <a:lnTo>
                  <a:pt x="919499" y="1033145"/>
                </a:lnTo>
                <a:lnTo>
                  <a:pt x="0" y="1033145"/>
                </a:lnTo>
                <a:lnTo>
                  <a:pt x="0" y="0"/>
                </a:lnTo>
                <a:close/>
              </a:path>
            </a:pathLst>
          </a:custGeom>
          <a:blipFill>
            <a:blip r:embed="rId2"/>
            <a:stretch>
              <a:fillRect l="0" t="0" r="0" b="0"/>
            </a:stretch>
          </a:blipFill>
        </p:spPr>
      </p:sp>
      <p:sp>
        <p:nvSpPr>
          <p:cNvPr name="TextBox 8" id="8"/>
          <p:cNvSpPr txBox="true"/>
          <p:nvPr/>
        </p:nvSpPr>
        <p:spPr>
          <a:xfrm rot="0">
            <a:off x="5580180" y="5181941"/>
            <a:ext cx="2753390" cy="428688"/>
          </a:xfrm>
          <a:prstGeom prst="rect">
            <a:avLst/>
          </a:prstGeom>
        </p:spPr>
        <p:txBody>
          <a:bodyPr anchor="t" rtlCol="false" tIns="0" lIns="0" bIns="0" rIns="0">
            <a:spAutoFit/>
          </a:bodyPr>
          <a:lstStyle/>
          <a:p>
            <a:pPr algn="ctr">
              <a:lnSpc>
                <a:spcPts val="3360"/>
              </a:lnSpc>
              <a:spcBef>
                <a:spcPct val="0"/>
              </a:spcBef>
            </a:pPr>
            <a:r>
              <a:rPr lang="en-US" b="true" sz="2400">
                <a:solidFill>
                  <a:srgbClr val="EFF1E8"/>
                </a:solidFill>
                <a:latin typeface="Poppins Bold"/>
                <a:ea typeface="Poppins Bold"/>
                <a:cs typeface="Poppins Bold"/>
                <a:sym typeface="Poppins Bold"/>
              </a:rPr>
              <a:t>No-Shows</a:t>
            </a:r>
          </a:p>
        </p:txBody>
      </p:sp>
      <p:sp>
        <p:nvSpPr>
          <p:cNvPr name="TextBox 9" id="9"/>
          <p:cNvSpPr txBox="true"/>
          <p:nvPr/>
        </p:nvSpPr>
        <p:spPr>
          <a:xfrm rot="0">
            <a:off x="5671136" y="5576547"/>
            <a:ext cx="2662434" cy="770496"/>
          </a:xfrm>
          <a:prstGeom prst="rect">
            <a:avLst/>
          </a:prstGeom>
        </p:spPr>
        <p:txBody>
          <a:bodyPr anchor="t" rtlCol="false" tIns="0" lIns="0" bIns="0" rIns="0">
            <a:spAutoFit/>
          </a:bodyPr>
          <a:lstStyle/>
          <a:p>
            <a:pPr algn="ctr">
              <a:lnSpc>
                <a:spcPts val="6049"/>
              </a:lnSpc>
              <a:spcBef>
                <a:spcPct val="0"/>
              </a:spcBef>
            </a:pPr>
            <a:r>
              <a:rPr lang="en-US" b="true" sz="4320">
                <a:solidFill>
                  <a:srgbClr val="EFF1E8"/>
                </a:solidFill>
                <a:latin typeface="Poppins Bold"/>
                <a:ea typeface="Poppins Bold"/>
                <a:cs typeface="Poppins Bold"/>
                <a:sym typeface="Poppins Bold"/>
              </a:rPr>
              <a:t>24</a:t>
            </a:r>
            <a:r>
              <a:rPr lang="en-US" b="true" sz="4320">
                <a:solidFill>
                  <a:srgbClr val="EFF1E8"/>
                </a:solidFill>
                <a:latin typeface="Poppins Bold"/>
                <a:ea typeface="Poppins Bold"/>
                <a:cs typeface="Poppins Bold"/>
                <a:sym typeface="Poppins Bold"/>
              </a:rPr>
              <a:t>%</a:t>
            </a:r>
          </a:p>
        </p:txBody>
      </p:sp>
      <p:sp>
        <p:nvSpPr>
          <p:cNvPr name="TextBox 10" id="10"/>
          <p:cNvSpPr txBox="true"/>
          <p:nvPr/>
        </p:nvSpPr>
        <p:spPr>
          <a:xfrm rot="0">
            <a:off x="5543667" y="6423703"/>
            <a:ext cx="2917373" cy="1583044"/>
          </a:xfrm>
          <a:prstGeom prst="rect">
            <a:avLst/>
          </a:prstGeom>
        </p:spPr>
        <p:txBody>
          <a:bodyPr anchor="t" rtlCol="false" tIns="0" lIns="0" bIns="0" rIns="0">
            <a:spAutoFit/>
          </a:bodyPr>
          <a:lstStyle/>
          <a:p>
            <a:pPr algn="l" marL="388712" indent="-194356" lvl="1">
              <a:lnSpc>
                <a:spcPts val="2520"/>
              </a:lnSpc>
              <a:buFont typeface="Arial"/>
              <a:buChar char="•"/>
            </a:pPr>
            <a:r>
              <a:rPr lang="en-US" sz="1800">
                <a:solidFill>
                  <a:srgbClr val="EFF1E8"/>
                </a:solidFill>
                <a:latin typeface="Poppins"/>
                <a:ea typeface="Poppins"/>
                <a:cs typeface="Poppins"/>
                <a:sym typeface="Poppins"/>
              </a:rPr>
              <a:t>Older Adult Male/Females from Henderson</a:t>
            </a:r>
          </a:p>
          <a:p>
            <a:pPr algn="l" marL="388712" indent="-194356" lvl="1">
              <a:lnSpc>
                <a:spcPts val="2520"/>
              </a:lnSpc>
              <a:buFont typeface="Arial"/>
              <a:buChar char="•"/>
            </a:pPr>
            <a:r>
              <a:rPr lang="en-US" sz="1800">
                <a:solidFill>
                  <a:srgbClr val="EFF1E8"/>
                </a:solidFill>
                <a:latin typeface="Poppins"/>
                <a:ea typeface="Poppins"/>
                <a:cs typeface="Poppins"/>
                <a:sym typeface="Poppins"/>
              </a:rPr>
              <a:t>Older Adult Females from Las Vegas</a:t>
            </a:r>
          </a:p>
        </p:txBody>
      </p:sp>
      <p:grpSp>
        <p:nvGrpSpPr>
          <p:cNvPr name="Group 11" id="11"/>
          <p:cNvGrpSpPr/>
          <p:nvPr/>
        </p:nvGrpSpPr>
        <p:grpSpPr>
          <a:xfrm rot="0">
            <a:off x="730645" y="3858694"/>
            <a:ext cx="3703964" cy="4433883"/>
            <a:chOff x="0" y="0"/>
            <a:chExt cx="812800" cy="972974"/>
          </a:xfrm>
        </p:grpSpPr>
        <p:sp>
          <p:nvSpPr>
            <p:cNvPr name="Freeform 12" id="12"/>
            <p:cNvSpPr/>
            <p:nvPr/>
          </p:nvSpPr>
          <p:spPr>
            <a:xfrm flipH="false" flipV="false" rot="0">
              <a:off x="0" y="0"/>
              <a:ext cx="812800" cy="972974"/>
            </a:xfrm>
            <a:custGeom>
              <a:avLst/>
              <a:gdLst/>
              <a:ahLst/>
              <a:cxnLst/>
              <a:rect r="r" b="b" t="t" l="l"/>
              <a:pathLst>
                <a:path h="972974" w="812800">
                  <a:moveTo>
                    <a:pt x="106599" y="0"/>
                  </a:moveTo>
                  <a:lnTo>
                    <a:pt x="706201" y="0"/>
                  </a:lnTo>
                  <a:cubicBezTo>
                    <a:pt x="765074" y="0"/>
                    <a:pt x="812800" y="47726"/>
                    <a:pt x="812800" y="106599"/>
                  </a:cubicBezTo>
                  <a:lnTo>
                    <a:pt x="812800" y="866375"/>
                  </a:lnTo>
                  <a:cubicBezTo>
                    <a:pt x="812800" y="925248"/>
                    <a:pt x="765074" y="972974"/>
                    <a:pt x="706201" y="972974"/>
                  </a:cubicBezTo>
                  <a:lnTo>
                    <a:pt x="106599" y="972974"/>
                  </a:lnTo>
                  <a:cubicBezTo>
                    <a:pt x="78327" y="972974"/>
                    <a:pt x="51213" y="961743"/>
                    <a:pt x="31222" y="941752"/>
                  </a:cubicBezTo>
                  <a:cubicBezTo>
                    <a:pt x="11231" y="921761"/>
                    <a:pt x="0" y="894647"/>
                    <a:pt x="0" y="866375"/>
                  </a:cubicBezTo>
                  <a:lnTo>
                    <a:pt x="0" y="106599"/>
                  </a:lnTo>
                  <a:cubicBezTo>
                    <a:pt x="0" y="47726"/>
                    <a:pt x="47726" y="0"/>
                    <a:pt x="106599" y="0"/>
                  </a:cubicBezTo>
                  <a:close/>
                </a:path>
              </a:pathLst>
            </a:custGeom>
            <a:ln w="38100" cap="rnd">
              <a:solidFill>
                <a:srgbClr val="EFF1E8"/>
              </a:solidFill>
              <a:prstDash val="solid"/>
              <a:round/>
            </a:ln>
          </p:spPr>
        </p:sp>
        <p:sp>
          <p:nvSpPr>
            <p:cNvPr name="TextBox 13" id="13"/>
            <p:cNvSpPr txBox="true"/>
            <p:nvPr/>
          </p:nvSpPr>
          <p:spPr>
            <a:xfrm>
              <a:off x="0" y="-57150"/>
              <a:ext cx="812800" cy="1030124"/>
            </a:xfrm>
            <a:prstGeom prst="rect">
              <a:avLst/>
            </a:prstGeom>
          </p:spPr>
          <p:txBody>
            <a:bodyPr anchor="ctr" rtlCol="false" tIns="50800" lIns="50800" bIns="50800" rIns="50800"/>
            <a:lstStyle/>
            <a:p>
              <a:pPr algn="ctr">
                <a:lnSpc>
                  <a:spcPts val="2799"/>
                </a:lnSpc>
              </a:pPr>
            </a:p>
          </p:txBody>
        </p:sp>
      </p:grpSp>
      <p:sp>
        <p:nvSpPr>
          <p:cNvPr name="Freeform 14" id="14"/>
          <p:cNvSpPr/>
          <p:nvPr/>
        </p:nvSpPr>
        <p:spPr>
          <a:xfrm flipH="false" flipV="false" rot="0">
            <a:off x="1709146" y="4115869"/>
            <a:ext cx="1746962" cy="1013238"/>
          </a:xfrm>
          <a:custGeom>
            <a:avLst/>
            <a:gdLst/>
            <a:ahLst/>
            <a:cxnLst/>
            <a:rect r="r" b="b" t="t" l="l"/>
            <a:pathLst>
              <a:path h="1013238" w="1746962">
                <a:moveTo>
                  <a:pt x="0" y="0"/>
                </a:moveTo>
                <a:lnTo>
                  <a:pt x="1746961" y="0"/>
                </a:lnTo>
                <a:lnTo>
                  <a:pt x="1746961" y="1013237"/>
                </a:lnTo>
                <a:lnTo>
                  <a:pt x="0" y="10132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205931" y="5329131"/>
            <a:ext cx="2753390" cy="851672"/>
          </a:xfrm>
          <a:prstGeom prst="rect">
            <a:avLst/>
          </a:prstGeom>
        </p:spPr>
        <p:txBody>
          <a:bodyPr anchor="t" rtlCol="false" tIns="0" lIns="0" bIns="0" rIns="0">
            <a:spAutoFit/>
          </a:bodyPr>
          <a:lstStyle/>
          <a:p>
            <a:pPr algn="ctr">
              <a:lnSpc>
                <a:spcPts val="3360"/>
              </a:lnSpc>
              <a:spcBef>
                <a:spcPct val="0"/>
              </a:spcBef>
            </a:pPr>
            <a:r>
              <a:rPr lang="en-US" b="true" sz="2400">
                <a:solidFill>
                  <a:srgbClr val="EFF1E8"/>
                </a:solidFill>
                <a:latin typeface="Poppins Bold"/>
                <a:ea typeface="Poppins Bold"/>
                <a:cs typeface="Poppins Bold"/>
                <a:sym typeface="Poppins Bold"/>
              </a:rPr>
              <a:t>Patient Satisfaction</a:t>
            </a:r>
          </a:p>
        </p:txBody>
      </p:sp>
      <p:sp>
        <p:nvSpPr>
          <p:cNvPr name="TextBox 16" id="16"/>
          <p:cNvSpPr txBox="true"/>
          <p:nvPr/>
        </p:nvSpPr>
        <p:spPr>
          <a:xfrm rot="0">
            <a:off x="1169418" y="6423703"/>
            <a:ext cx="2917373" cy="954394"/>
          </a:xfrm>
          <a:prstGeom prst="rect">
            <a:avLst/>
          </a:prstGeom>
        </p:spPr>
        <p:txBody>
          <a:bodyPr anchor="t" rtlCol="false" tIns="0" lIns="0" bIns="0" rIns="0">
            <a:spAutoFit/>
          </a:bodyPr>
          <a:lstStyle/>
          <a:p>
            <a:pPr algn="l" marL="388712" indent="-194356" lvl="1">
              <a:lnSpc>
                <a:spcPts val="2520"/>
              </a:lnSpc>
              <a:buFont typeface="Arial"/>
              <a:buChar char="•"/>
            </a:pPr>
            <a:r>
              <a:rPr lang="en-US" sz="1800">
                <a:solidFill>
                  <a:srgbClr val="EFF1E8"/>
                </a:solidFill>
                <a:latin typeface="Poppins"/>
                <a:ea typeface="Poppins"/>
                <a:cs typeface="Poppins"/>
                <a:sym typeface="Poppins"/>
              </a:rPr>
              <a:t>Scores reamained stable across appointment types </a:t>
            </a:r>
          </a:p>
        </p:txBody>
      </p:sp>
      <p:grpSp>
        <p:nvGrpSpPr>
          <p:cNvPr name="Group 17" id="17"/>
          <p:cNvGrpSpPr/>
          <p:nvPr/>
        </p:nvGrpSpPr>
        <p:grpSpPr>
          <a:xfrm rot="0">
            <a:off x="9479143" y="3858694"/>
            <a:ext cx="3703964" cy="4433883"/>
            <a:chOff x="0" y="0"/>
            <a:chExt cx="812800" cy="972974"/>
          </a:xfrm>
        </p:grpSpPr>
        <p:sp>
          <p:nvSpPr>
            <p:cNvPr name="Freeform 18" id="18"/>
            <p:cNvSpPr/>
            <p:nvPr/>
          </p:nvSpPr>
          <p:spPr>
            <a:xfrm flipH="false" flipV="false" rot="0">
              <a:off x="0" y="0"/>
              <a:ext cx="812800" cy="972974"/>
            </a:xfrm>
            <a:custGeom>
              <a:avLst/>
              <a:gdLst/>
              <a:ahLst/>
              <a:cxnLst/>
              <a:rect r="r" b="b" t="t" l="l"/>
              <a:pathLst>
                <a:path h="972974" w="812800">
                  <a:moveTo>
                    <a:pt x="106599" y="0"/>
                  </a:moveTo>
                  <a:lnTo>
                    <a:pt x="706201" y="0"/>
                  </a:lnTo>
                  <a:cubicBezTo>
                    <a:pt x="765074" y="0"/>
                    <a:pt x="812800" y="47726"/>
                    <a:pt x="812800" y="106599"/>
                  </a:cubicBezTo>
                  <a:lnTo>
                    <a:pt x="812800" y="866375"/>
                  </a:lnTo>
                  <a:cubicBezTo>
                    <a:pt x="812800" y="925248"/>
                    <a:pt x="765074" y="972974"/>
                    <a:pt x="706201" y="972974"/>
                  </a:cubicBezTo>
                  <a:lnTo>
                    <a:pt x="106599" y="972974"/>
                  </a:lnTo>
                  <a:cubicBezTo>
                    <a:pt x="78327" y="972974"/>
                    <a:pt x="51213" y="961743"/>
                    <a:pt x="31222" y="941752"/>
                  </a:cubicBezTo>
                  <a:cubicBezTo>
                    <a:pt x="11231" y="921761"/>
                    <a:pt x="0" y="894647"/>
                    <a:pt x="0" y="866375"/>
                  </a:cubicBezTo>
                  <a:lnTo>
                    <a:pt x="0" y="106599"/>
                  </a:lnTo>
                  <a:cubicBezTo>
                    <a:pt x="0" y="47726"/>
                    <a:pt x="47726" y="0"/>
                    <a:pt x="106599" y="0"/>
                  </a:cubicBezTo>
                  <a:close/>
                </a:path>
              </a:pathLst>
            </a:custGeom>
            <a:ln w="38100" cap="rnd">
              <a:solidFill>
                <a:srgbClr val="EFF1E8"/>
              </a:solidFill>
              <a:prstDash val="solid"/>
              <a:round/>
            </a:ln>
          </p:spPr>
        </p:sp>
        <p:sp>
          <p:nvSpPr>
            <p:cNvPr name="TextBox 19" id="19"/>
            <p:cNvSpPr txBox="true"/>
            <p:nvPr/>
          </p:nvSpPr>
          <p:spPr>
            <a:xfrm>
              <a:off x="0" y="-57150"/>
              <a:ext cx="812800" cy="1030124"/>
            </a:xfrm>
            <a:prstGeom prst="rect">
              <a:avLst/>
            </a:prstGeom>
          </p:spPr>
          <p:txBody>
            <a:bodyPr anchor="ctr" rtlCol="false" tIns="50800" lIns="50800" bIns="50800" rIns="50800"/>
            <a:lstStyle/>
            <a:p>
              <a:pPr algn="ctr">
                <a:lnSpc>
                  <a:spcPts val="2799"/>
                </a:lnSpc>
              </a:pPr>
            </a:p>
          </p:txBody>
        </p:sp>
      </p:grpSp>
      <p:sp>
        <p:nvSpPr>
          <p:cNvPr name="Freeform 20" id="20"/>
          <p:cNvSpPr/>
          <p:nvPr/>
        </p:nvSpPr>
        <p:spPr>
          <a:xfrm flipH="true" flipV="false" rot="0">
            <a:off x="10457389" y="4025798"/>
            <a:ext cx="1738392" cy="1043035"/>
          </a:xfrm>
          <a:custGeom>
            <a:avLst/>
            <a:gdLst/>
            <a:ahLst/>
            <a:cxnLst/>
            <a:rect r="r" b="b" t="t" l="l"/>
            <a:pathLst>
              <a:path h="1043035" w="1738392">
                <a:moveTo>
                  <a:pt x="1738391" y="0"/>
                </a:moveTo>
                <a:lnTo>
                  <a:pt x="0" y="0"/>
                </a:lnTo>
                <a:lnTo>
                  <a:pt x="0" y="1043035"/>
                </a:lnTo>
                <a:lnTo>
                  <a:pt x="1738391" y="1043035"/>
                </a:lnTo>
                <a:lnTo>
                  <a:pt x="1738391" y="0"/>
                </a:lnTo>
                <a:close/>
              </a:path>
            </a:pathLst>
          </a:custGeom>
          <a:blipFill>
            <a:blip r:embed="rId5"/>
            <a:stretch>
              <a:fillRect l="0" t="0" r="0" b="0"/>
            </a:stretch>
          </a:blipFill>
        </p:spPr>
      </p:sp>
      <p:sp>
        <p:nvSpPr>
          <p:cNvPr name="TextBox 21" id="21"/>
          <p:cNvSpPr txBox="true"/>
          <p:nvPr/>
        </p:nvSpPr>
        <p:spPr>
          <a:xfrm rot="0">
            <a:off x="9954429" y="5181941"/>
            <a:ext cx="2753390" cy="428688"/>
          </a:xfrm>
          <a:prstGeom prst="rect">
            <a:avLst/>
          </a:prstGeom>
        </p:spPr>
        <p:txBody>
          <a:bodyPr anchor="t" rtlCol="false" tIns="0" lIns="0" bIns="0" rIns="0">
            <a:spAutoFit/>
          </a:bodyPr>
          <a:lstStyle/>
          <a:p>
            <a:pPr algn="ctr">
              <a:lnSpc>
                <a:spcPts val="3360"/>
              </a:lnSpc>
              <a:spcBef>
                <a:spcPct val="0"/>
              </a:spcBef>
            </a:pPr>
            <a:r>
              <a:rPr lang="en-US" b="true" sz="2400">
                <a:solidFill>
                  <a:srgbClr val="EFF1E8"/>
                </a:solidFill>
                <a:latin typeface="Poppins Bold"/>
                <a:ea typeface="Poppins Bold"/>
                <a:cs typeface="Poppins Bold"/>
                <a:sym typeface="Poppins Bold"/>
              </a:rPr>
              <a:t>ER Volume</a:t>
            </a:r>
          </a:p>
        </p:txBody>
      </p:sp>
      <p:sp>
        <p:nvSpPr>
          <p:cNvPr name="TextBox 22" id="22"/>
          <p:cNvSpPr txBox="true"/>
          <p:nvPr/>
        </p:nvSpPr>
        <p:spPr>
          <a:xfrm rot="0">
            <a:off x="9867898" y="6423703"/>
            <a:ext cx="2917373" cy="954394"/>
          </a:xfrm>
          <a:prstGeom prst="rect">
            <a:avLst/>
          </a:prstGeom>
        </p:spPr>
        <p:txBody>
          <a:bodyPr anchor="t" rtlCol="false" tIns="0" lIns="0" bIns="0" rIns="0">
            <a:spAutoFit/>
          </a:bodyPr>
          <a:lstStyle/>
          <a:p>
            <a:pPr algn="l" marL="388712" indent="-194356" lvl="1">
              <a:lnSpc>
                <a:spcPts val="2520"/>
              </a:lnSpc>
              <a:buFont typeface="Arial"/>
              <a:buChar char="•"/>
            </a:pPr>
            <a:r>
              <a:rPr lang="en-US" b="true" sz="1800">
                <a:solidFill>
                  <a:srgbClr val="EFF1E8"/>
                </a:solidFill>
                <a:latin typeface="Poppins Bold"/>
                <a:ea typeface="Poppins Bold"/>
                <a:cs typeface="Poppins Bold"/>
                <a:sym typeface="Poppins Bold"/>
              </a:rPr>
              <a:t>Henderson residents</a:t>
            </a:r>
            <a:r>
              <a:rPr lang="en-US" sz="1800">
                <a:solidFill>
                  <a:srgbClr val="EFF1E8"/>
                </a:solidFill>
                <a:latin typeface="Poppins"/>
                <a:ea typeface="Poppins"/>
                <a:cs typeface="Poppins"/>
                <a:sym typeface="Poppins"/>
              </a:rPr>
              <a:t> represent the largest share of visits to ER</a:t>
            </a:r>
          </a:p>
        </p:txBody>
      </p:sp>
      <p:sp>
        <p:nvSpPr>
          <p:cNvPr name="TextBox 23" id="23"/>
          <p:cNvSpPr txBox="true"/>
          <p:nvPr/>
        </p:nvSpPr>
        <p:spPr>
          <a:xfrm rot="0">
            <a:off x="9995367" y="5576547"/>
            <a:ext cx="2662434" cy="770496"/>
          </a:xfrm>
          <a:prstGeom prst="rect">
            <a:avLst/>
          </a:prstGeom>
        </p:spPr>
        <p:txBody>
          <a:bodyPr anchor="t" rtlCol="false" tIns="0" lIns="0" bIns="0" rIns="0">
            <a:spAutoFit/>
          </a:bodyPr>
          <a:lstStyle/>
          <a:p>
            <a:pPr algn="ctr">
              <a:lnSpc>
                <a:spcPts val="6049"/>
              </a:lnSpc>
              <a:spcBef>
                <a:spcPct val="0"/>
              </a:spcBef>
            </a:pPr>
            <a:r>
              <a:rPr lang="en-US" b="true" sz="4320">
                <a:solidFill>
                  <a:srgbClr val="EFF1E8"/>
                </a:solidFill>
                <a:latin typeface="Poppins Bold"/>
                <a:ea typeface="Poppins Bold"/>
                <a:cs typeface="Poppins Bold"/>
                <a:sym typeface="Poppins Bold"/>
              </a:rPr>
              <a:t>37</a:t>
            </a:r>
            <a:r>
              <a:rPr lang="en-US" b="true" sz="4320">
                <a:solidFill>
                  <a:srgbClr val="EFF1E8"/>
                </a:solidFill>
                <a:latin typeface="Poppins Bold"/>
                <a:ea typeface="Poppins Bold"/>
                <a:cs typeface="Poppins Bold"/>
                <a:sym typeface="Poppins Bold"/>
              </a:rPr>
              <a:t>%</a:t>
            </a:r>
          </a:p>
        </p:txBody>
      </p:sp>
      <p:sp>
        <p:nvSpPr>
          <p:cNvPr name="Freeform 24" id="24"/>
          <p:cNvSpPr/>
          <p:nvPr/>
        </p:nvSpPr>
        <p:spPr>
          <a:xfrm flipH="false" flipV="false" rot="0">
            <a:off x="15094989" y="3997253"/>
            <a:ext cx="1220768" cy="1013238"/>
          </a:xfrm>
          <a:custGeom>
            <a:avLst/>
            <a:gdLst/>
            <a:ahLst/>
            <a:cxnLst/>
            <a:rect r="r" b="b" t="t" l="l"/>
            <a:pathLst>
              <a:path h="1013238" w="1220768">
                <a:moveTo>
                  <a:pt x="0" y="0"/>
                </a:moveTo>
                <a:lnTo>
                  <a:pt x="1220769" y="0"/>
                </a:lnTo>
                <a:lnTo>
                  <a:pt x="1220769" y="1013238"/>
                </a:lnTo>
                <a:lnTo>
                  <a:pt x="0" y="10132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5" id="25"/>
          <p:cNvGrpSpPr/>
          <p:nvPr/>
        </p:nvGrpSpPr>
        <p:grpSpPr>
          <a:xfrm rot="0">
            <a:off x="13853392" y="3858694"/>
            <a:ext cx="3703964" cy="4433883"/>
            <a:chOff x="0" y="0"/>
            <a:chExt cx="812800" cy="972974"/>
          </a:xfrm>
        </p:grpSpPr>
        <p:sp>
          <p:nvSpPr>
            <p:cNvPr name="Freeform 26" id="26"/>
            <p:cNvSpPr/>
            <p:nvPr/>
          </p:nvSpPr>
          <p:spPr>
            <a:xfrm flipH="false" flipV="false" rot="0">
              <a:off x="0" y="0"/>
              <a:ext cx="812800" cy="972974"/>
            </a:xfrm>
            <a:custGeom>
              <a:avLst/>
              <a:gdLst/>
              <a:ahLst/>
              <a:cxnLst/>
              <a:rect r="r" b="b" t="t" l="l"/>
              <a:pathLst>
                <a:path h="972974" w="812800">
                  <a:moveTo>
                    <a:pt x="106599" y="0"/>
                  </a:moveTo>
                  <a:lnTo>
                    <a:pt x="706201" y="0"/>
                  </a:lnTo>
                  <a:cubicBezTo>
                    <a:pt x="765074" y="0"/>
                    <a:pt x="812800" y="47726"/>
                    <a:pt x="812800" y="106599"/>
                  </a:cubicBezTo>
                  <a:lnTo>
                    <a:pt x="812800" y="866375"/>
                  </a:lnTo>
                  <a:cubicBezTo>
                    <a:pt x="812800" y="925248"/>
                    <a:pt x="765074" y="972974"/>
                    <a:pt x="706201" y="972974"/>
                  </a:cubicBezTo>
                  <a:lnTo>
                    <a:pt x="106599" y="972974"/>
                  </a:lnTo>
                  <a:cubicBezTo>
                    <a:pt x="78327" y="972974"/>
                    <a:pt x="51213" y="961743"/>
                    <a:pt x="31222" y="941752"/>
                  </a:cubicBezTo>
                  <a:cubicBezTo>
                    <a:pt x="11231" y="921761"/>
                    <a:pt x="0" y="894647"/>
                    <a:pt x="0" y="866375"/>
                  </a:cubicBezTo>
                  <a:lnTo>
                    <a:pt x="0" y="106599"/>
                  </a:lnTo>
                  <a:cubicBezTo>
                    <a:pt x="0" y="47726"/>
                    <a:pt x="47726" y="0"/>
                    <a:pt x="106599" y="0"/>
                  </a:cubicBezTo>
                  <a:close/>
                </a:path>
              </a:pathLst>
            </a:custGeom>
            <a:ln w="38100" cap="rnd">
              <a:solidFill>
                <a:srgbClr val="EFF1E8"/>
              </a:solidFill>
              <a:prstDash val="solid"/>
              <a:round/>
            </a:ln>
          </p:spPr>
        </p:sp>
        <p:sp>
          <p:nvSpPr>
            <p:cNvPr name="TextBox 27" id="27"/>
            <p:cNvSpPr txBox="true"/>
            <p:nvPr/>
          </p:nvSpPr>
          <p:spPr>
            <a:xfrm>
              <a:off x="0" y="-57150"/>
              <a:ext cx="812800" cy="1030124"/>
            </a:xfrm>
            <a:prstGeom prst="rect">
              <a:avLst/>
            </a:prstGeom>
          </p:spPr>
          <p:txBody>
            <a:bodyPr anchor="ctr" rtlCol="false" tIns="50800" lIns="50800" bIns="50800" rIns="50800"/>
            <a:lstStyle/>
            <a:p>
              <a:pPr algn="ctr">
                <a:lnSpc>
                  <a:spcPts val="2799"/>
                </a:lnSpc>
              </a:pPr>
            </a:p>
          </p:txBody>
        </p:sp>
      </p:grpSp>
      <p:sp>
        <p:nvSpPr>
          <p:cNvPr name="TextBox 28" id="28"/>
          <p:cNvSpPr txBox="true"/>
          <p:nvPr/>
        </p:nvSpPr>
        <p:spPr>
          <a:xfrm rot="0">
            <a:off x="14328678" y="5181941"/>
            <a:ext cx="2753390" cy="428688"/>
          </a:xfrm>
          <a:prstGeom prst="rect">
            <a:avLst/>
          </a:prstGeom>
        </p:spPr>
        <p:txBody>
          <a:bodyPr anchor="t" rtlCol="false" tIns="0" lIns="0" bIns="0" rIns="0">
            <a:spAutoFit/>
          </a:bodyPr>
          <a:lstStyle/>
          <a:p>
            <a:pPr algn="ctr">
              <a:lnSpc>
                <a:spcPts val="3360"/>
              </a:lnSpc>
              <a:spcBef>
                <a:spcPct val="0"/>
              </a:spcBef>
            </a:pPr>
            <a:r>
              <a:rPr lang="en-US" b="true" sz="2400">
                <a:solidFill>
                  <a:srgbClr val="EFF1E8"/>
                </a:solidFill>
                <a:latin typeface="Poppins Bold"/>
                <a:ea typeface="Poppins Bold"/>
                <a:cs typeface="Poppins Bold"/>
                <a:sym typeface="Poppins Bold"/>
              </a:rPr>
              <a:t>Wait - Times</a:t>
            </a:r>
          </a:p>
        </p:txBody>
      </p:sp>
      <p:sp>
        <p:nvSpPr>
          <p:cNvPr name="TextBox 29" id="29"/>
          <p:cNvSpPr txBox="true"/>
          <p:nvPr/>
        </p:nvSpPr>
        <p:spPr>
          <a:xfrm rot="0">
            <a:off x="14242147" y="6423703"/>
            <a:ext cx="2917373" cy="954394"/>
          </a:xfrm>
          <a:prstGeom prst="rect">
            <a:avLst/>
          </a:prstGeom>
        </p:spPr>
        <p:txBody>
          <a:bodyPr anchor="t" rtlCol="false" tIns="0" lIns="0" bIns="0" rIns="0">
            <a:spAutoFit/>
          </a:bodyPr>
          <a:lstStyle/>
          <a:p>
            <a:pPr algn="l" marL="388712" indent="-194356" lvl="1">
              <a:lnSpc>
                <a:spcPts val="2520"/>
              </a:lnSpc>
              <a:buFont typeface="Arial"/>
              <a:buChar char="•"/>
            </a:pPr>
            <a:r>
              <a:rPr lang="en-US" sz="1800">
                <a:solidFill>
                  <a:srgbClr val="EFF1E8"/>
                </a:solidFill>
                <a:latin typeface="Poppins"/>
                <a:ea typeface="Poppins"/>
                <a:cs typeface="Poppins"/>
                <a:sym typeface="Poppins"/>
              </a:rPr>
              <a:t>Patients in these </a:t>
            </a:r>
            <a:r>
              <a:rPr lang="en-US" b="true" sz="1800">
                <a:solidFill>
                  <a:srgbClr val="EFF1E8"/>
                </a:solidFill>
                <a:latin typeface="Poppins Bold"/>
                <a:ea typeface="Poppins Bold"/>
                <a:cs typeface="Poppins Bold"/>
                <a:sym typeface="Poppins Bold"/>
              </a:rPr>
              <a:t>age ranges</a:t>
            </a:r>
            <a:r>
              <a:rPr lang="en-US" sz="1800">
                <a:solidFill>
                  <a:srgbClr val="EFF1E8"/>
                </a:solidFill>
                <a:latin typeface="Poppins"/>
                <a:ea typeface="Poppins"/>
                <a:cs typeface="Poppins"/>
                <a:sym typeface="Poppins"/>
              </a:rPr>
              <a:t> experience the longest waiting</a:t>
            </a:r>
          </a:p>
        </p:txBody>
      </p:sp>
      <p:sp>
        <p:nvSpPr>
          <p:cNvPr name="TextBox 30" id="30"/>
          <p:cNvSpPr txBox="true"/>
          <p:nvPr/>
        </p:nvSpPr>
        <p:spPr>
          <a:xfrm rot="0">
            <a:off x="14369616" y="5576547"/>
            <a:ext cx="2662434" cy="770496"/>
          </a:xfrm>
          <a:prstGeom prst="rect">
            <a:avLst/>
          </a:prstGeom>
        </p:spPr>
        <p:txBody>
          <a:bodyPr anchor="t" rtlCol="false" tIns="0" lIns="0" bIns="0" rIns="0">
            <a:spAutoFit/>
          </a:bodyPr>
          <a:lstStyle/>
          <a:p>
            <a:pPr algn="ctr">
              <a:lnSpc>
                <a:spcPts val="6049"/>
              </a:lnSpc>
              <a:spcBef>
                <a:spcPct val="0"/>
              </a:spcBef>
            </a:pPr>
            <a:r>
              <a:rPr lang="en-US" b="true" sz="4320">
                <a:solidFill>
                  <a:srgbClr val="EFF1E8"/>
                </a:solidFill>
                <a:latin typeface="Poppins Bold"/>
                <a:ea typeface="Poppins Bold"/>
                <a:cs typeface="Poppins Bold"/>
                <a:sym typeface="Poppins Bold"/>
              </a:rPr>
              <a:t>45-64</a:t>
            </a:r>
          </a:p>
        </p:txBody>
      </p:sp>
      <p:sp>
        <p:nvSpPr>
          <p:cNvPr name="TextBox 31" id="31"/>
          <p:cNvSpPr txBox="true"/>
          <p:nvPr/>
        </p:nvSpPr>
        <p:spPr>
          <a:xfrm rot="0">
            <a:off x="1028700" y="8899525"/>
            <a:ext cx="12054598" cy="358775"/>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Fur</a:t>
            </a:r>
            <a:r>
              <a:rPr lang="en-US" sz="1999">
                <a:solidFill>
                  <a:srgbClr val="343734"/>
                </a:solidFill>
                <a:latin typeface="Poppins"/>
                <a:ea typeface="Poppins"/>
                <a:cs typeface="Poppins"/>
                <a:sym typeface="Poppins"/>
              </a:rPr>
              <a:t>ther</a:t>
            </a:r>
            <a:r>
              <a:rPr lang="en-US" sz="1999">
                <a:solidFill>
                  <a:srgbClr val="343734"/>
                </a:solidFill>
                <a:latin typeface="Poppins"/>
                <a:ea typeface="Poppins"/>
                <a:cs typeface="Poppins"/>
                <a:sym typeface="Poppins"/>
              </a:rPr>
              <a:t> investigation is needed to identify the operational drivers behind these trends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false" flipV="true" rot="0">
            <a:off x="1028700" y="1028700"/>
            <a:ext cx="1015236" cy="1015236"/>
          </a:xfrm>
          <a:custGeom>
            <a:avLst/>
            <a:gdLst/>
            <a:ahLst/>
            <a:cxnLst/>
            <a:rect r="r" b="b" t="t" l="l"/>
            <a:pathLst>
              <a:path h="1015236" w="1015236">
                <a:moveTo>
                  <a:pt x="0" y="1015236"/>
                </a:moveTo>
                <a:lnTo>
                  <a:pt x="1015236" y="1015236"/>
                </a:lnTo>
                <a:lnTo>
                  <a:pt x="1015236" y="0"/>
                </a:lnTo>
                <a:lnTo>
                  <a:pt x="0" y="0"/>
                </a:lnTo>
                <a:lnTo>
                  <a:pt x="0" y="101523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39653" y="1085850"/>
            <a:ext cx="14608693" cy="1003304"/>
          </a:xfrm>
          <a:prstGeom prst="rect">
            <a:avLst/>
          </a:prstGeom>
        </p:spPr>
        <p:txBody>
          <a:bodyPr anchor="t" rtlCol="false" tIns="0" lIns="0" bIns="0" rIns="0">
            <a:spAutoFit/>
          </a:bodyPr>
          <a:lstStyle/>
          <a:p>
            <a:pPr algn="ctr">
              <a:lnSpc>
                <a:spcPts val="7700"/>
              </a:lnSpc>
            </a:pPr>
            <a:r>
              <a:rPr lang="en-US" b="true" sz="7000">
                <a:solidFill>
                  <a:srgbClr val="EFF1E8"/>
                </a:solidFill>
                <a:latin typeface="Montserrat Bold"/>
                <a:ea typeface="Montserrat Bold"/>
                <a:cs typeface="Montserrat Bold"/>
                <a:sym typeface="Montserrat Bold"/>
              </a:rPr>
              <a:t>Turning Insights Into Action</a:t>
            </a:r>
          </a:p>
        </p:txBody>
      </p:sp>
      <p:grpSp>
        <p:nvGrpSpPr>
          <p:cNvPr name="Group 4" id="4"/>
          <p:cNvGrpSpPr/>
          <p:nvPr/>
        </p:nvGrpSpPr>
        <p:grpSpPr>
          <a:xfrm rot="0">
            <a:off x="2721595" y="5607697"/>
            <a:ext cx="12844810" cy="3404053"/>
            <a:chOff x="0" y="0"/>
            <a:chExt cx="17126413" cy="4538737"/>
          </a:xfrm>
        </p:grpSpPr>
        <p:grpSp>
          <p:nvGrpSpPr>
            <p:cNvPr name="Group 5" id="5"/>
            <p:cNvGrpSpPr/>
            <p:nvPr/>
          </p:nvGrpSpPr>
          <p:grpSpPr>
            <a:xfrm rot="0">
              <a:off x="0" y="0"/>
              <a:ext cx="17126413" cy="4538737"/>
              <a:chOff x="0" y="0"/>
              <a:chExt cx="3382995" cy="896541"/>
            </a:xfrm>
          </p:grpSpPr>
          <p:sp>
            <p:nvSpPr>
              <p:cNvPr name="Freeform 6" id="6"/>
              <p:cNvSpPr/>
              <p:nvPr/>
            </p:nvSpPr>
            <p:spPr>
              <a:xfrm flipH="false" flipV="false" rot="0">
                <a:off x="0" y="0"/>
                <a:ext cx="3382995" cy="896541"/>
              </a:xfrm>
              <a:custGeom>
                <a:avLst/>
                <a:gdLst/>
                <a:ahLst/>
                <a:cxnLst/>
                <a:rect r="r" b="b" t="t" l="l"/>
                <a:pathLst>
                  <a:path h="896541" w="3382995">
                    <a:moveTo>
                      <a:pt x="30739" y="0"/>
                    </a:moveTo>
                    <a:lnTo>
                      <a:pt x="3352256" y="0"/>
                    </a:lnTo>
                    <a:cubicBezTo>
                      <a:pt x="3360409" y="0"/>
                      <a:pt x="3368227" y="3239"/>
                      <a:pt x="3373992" y="9003"/>
                    </a:cubicBezTo>
                    <a:cubicBezTo>
                      <a:pt x="3379757" y="14768"/>
                      <a:pt x="3382995" y="22587"/>
                      <a:pt x="3382995" y="30739"/>
                    </a:cubicBezTo>
                    <a:lnTo>
                      <a:pt x="3382995" y="865802"/>
                    </a:lnTo>
                    <a:cubicBezTo>
                      <a:pt x="3382995" y="873954"/>
                      <a:pt x="3379757" y="881773"/>
                      <a:pt x="3373992" y="887537"/>
                    </a:cubicBezTo>
                    <a:cubicBezTo>
                      <a:pt x="3368227" y="893302"/>
                      <a:pt x="3360409" y="896541"/>
                      <a:pt x="3352256" y="896541"/>
                    </a:cubicBezTo>
                    <a:lnTo>
                      <a:pt x="30739" y="896541"/>
                    </a:lnTo>
                    <a:cubicBezTo>
                      <a:pt x="22587" y="896541"/>
                      <a:pt x="14768" y="893302"/>
                      <a:pt x="9003" y="887537"/>
                    </a:cubicBezTo>
                    <a:cubicBezTo>
                      <a:pt x="3239" y="881773"/>
                      <a:pt x="0" y="873954"/>
                      <a:pt x="0" y="865802"/>
                    </a:cubicBezTo>
                    <a:lnTo>
                      <a:pt x="0" y="30739"/>
                    </a:lnTo>
                    <a:cubicBezTo>
                      <a:pt x="0" y="22587"/>
                      <a:pt x="3239" y="14768"/>
                      <a:pt x="9003" y="9003"/>
                    </a:cubicBezTo>
                    <a:cubicBezTo>
                      <a:pt x="14768" y="3239"/>
                      <a:pt x="22587" y="0"/>
                      <a:pt x="30739" y="0"/>
                    </a:cubicBezTo>
                    <a:close/>
                  </a:path>
                </a:pathLst>
              </a:custGeom>
              <a:ln w="38100" cap="rnd">
                <a:solidFill>
                  <a:srgbClr val="EFF1E8"/>
                </a:solidFill>
                <a:prstDash val="solid"/>
                <a:round/>
              </a:ln>
            </p:spPr>
          </p:sp>
          <p:sp>
            <p:nvSpPr>
              <p:cNvPr name="TextBox 7" id="7"/>
              <p:cNvSpPr txBox="true"/>
              <p:nvPr/>
            </p:nvSpPr>
            <p:spPr>
              <a:xfrm>
                <a:off x="0" y="-57150"/>
                <a:ext cx="3382995" cy="953691"/>
              </a:xfrm>
              <a:prstGeom prst="rect">
                <a:avLst/>
              </a:prstGeom>
            </p:spPr>
            <p:txBody>
              <a:bodyPr anchor="ctr" rtlCol="false" tIns="50800" lIns="50800" bIns="50800" rIns="50800"/>
              <a:lstStyle/>
              <a:p>
                <a:pPr algn="ctr">
                  <a:lnSpc>
                    <a:spcPts val="2799"/>
                  </a:lnSpc>
                </a:pPr>
              </a:p>
            </p:txBody>
          </p:sp>
        </p:grpSp>
        <p:sp>
          <p:nvSpPr>
            <p:cNvPr name="AutoShape 8" id="8"/>
            <p:cNvSpPr/>
            <p:nvPr/>
          </p:nvSpPr>
          <p:spPr>
            <a:xfrm>
              <a:off x="0" y="2066401"/>
              <a:ext cx="17126413" cy="0"/>
            </a:xfrm>
            <a:prstGeom prst="line">
              <a:avLst/>
            </a:prstGeom>
            <a:ln cap="flat" w="50800">
              <a:solidFill>
                <a:srgbClr val="EFF1E8"/>
              </a:solidFill>
              <a:prstDash val="solid"/>
              <a:headEnd type="none" len="sm" w="sm"/>
              <a:tailEnd type="none" len="sm" w="sm"/>
            </a:ln>
          </p:spPr>
        </p:sp>
        <p:sp>
          <p:nvSpPr>
            <p:cNvPr name="AutoShape 9" id="9"/>
            <p:cNvSpPr/>
            <p:nvPr/>
          </p:nvSpPr>
          <p:spPr>
            <a:xfrm>
              <a:off x="0" y="3302569"/>
              <a:ext cx="17126413" cy="0"/>
            </a:xfrm>
            <a:prstGeom prst="line">
              <a:avLst/>
            </a:prstGeom>
            <a:ln cap="flat" w="50800">
              <a:solidFill>
                <a:srgbClr val="EFF1E8"/>
              </a:solidFill>
              <a:prstDash val="solid"/>
              <a:headEnd type="none" len="sm" w="sm"/>
              <a:tailEnd type="none" len="sm" w="sm"/>
            </a:ln>
          </p:spPr>
        </p:sp>
        <p:sp>
          <p:nvSpPr>
            <p:cNvPr name="AutoShape 10" id="10"/>
            <p:cNvSpPr/>
            <p:nvPr/>
          </p:nvSpPr>
          <p:spPr>
            <a:xfrm>
              <a:off x="0" y="1033433"/>
              <a:ext cx="17126413" cy="0"/>
            </a:xfrm>
            <a:prstGeom prst="line">
              <a:avLst/>
            </a:prstGeom>
            <a:ln cap="flat" w="50800">
              <a:solidFill>
                <a:srgbClr val="EFF1E8"/>
              </a:solidFill>
              <a:prstDash val="solid"/>
              <a:headEnd type="none" len="sm" w="sm"/>
              <a:tailEnd type="none" len="sm" w="sm"/>
            </a:ln>
          </p:spPr>
        </p:sp>
        <p:sp>
          <p:nvSpPr>
            <p:cNvPr name="TextBox 11" id="11"/>
            <p:cNvSpPr txBox="true"/>
            <p:nvPr/>
          </p:nvSpPr>
          <p:spPr>
            <a:xfrm rot="0">
              <a:off x="0" y="313898"/>
              <a:ext cx="17126413" cy="544195"/>
            </a:xfrm>
            <a:prstGeom prst="rect">
              <a:avLst/>
            </a:prstGeom>
          </p:spPr>
          <p:txBody>
            <a:bodyPr anchor="t" rtlCol="false" tIns="0" lIns="0" bIns="0" rIns="0">
              <a:spAutoFit/>
            </a:bodyPr>
            <a:lstStyle/>
            <a:p>
              <a:pPr algn="ctr">
                <a:lnSpc>
                  <a:spcPts val="3359"/>
                </a:lnSpc>
                <a:spcBef>
                  <a:spcPct val="0"/>
                </a:spcBef>
              </a:pPr>
              <a:r>
                <a:rPr lang="en-US" sz="2400">
                  <a:solidFill>
                    <a:srgbClr val="EFF1E8"/>
                  </a:solidFill>
                  <a:latin typeface="Poppins"/>
                  <a:ea typeface="Poppins"/>
                  <a:cs typeface="Poppins"/>
                  <a:sym typeface="Poppins"/>
                </a:rPr>
                <a:t>C</a:t>
              </a:r>
              <a:r>
                <a:rPr lang="en-US" sz="2400">
                  <a:solidFill>
                    <a:srgbClr val="EFF1E8"/>
                  </a:solidFill>
                  <a:latin typeface="Poppins"/>
                  <a:ea typeface="Poppins"/>
                  <a:cs typeface="Poppins"/>
                  <a:sym typeface="Poppins"/>
                </a:rPr>
                <a:t>onfirm operational bottlenecks through workflow analysis</a:t>
              </a:r>
            </a:p>
          </p:txBody>
        </p:sp>
        <p:sp>
          <p:nvSpPr>
            <p:cNvPr name="TextBox 12" id="12"/>
            <p:cNvSpPr txBox="true"/>
            <p:nvPr/>
          </p:nvSpPr>
          <p:spPr>
            <a:xfrm rot="0">
              <a:off x="2002569" y="1246158"/>
              <a:ext cx="13121275" cy="544195"/>
            </a:xfrm>
            <a:prstGeom prst="rect">
              <a:avLst/>
            </a:prstGeom>
          </p:spPr>
          <p:txBody>
            <a:bodyPr anchor="t" rtlCol="false" tIns="0" lIns="0" bIns="0" rIns="0">
              <a:spAutoFit/>
            </a:bodyPr>
            <a:lstStyle/>
            <a:p>
              <a:pPr algn="ctr">
                <a:lnSpc>
                  <a:spcPts val="3359"/>
                </a:lnSpc>
                <a:spcBef>
                  <a:spcPct val="0"/>
                </a:spcBef>
              </a:pPr>
              <a:r>
                <a:rPr lang="en-US" sz="2400">
                  <a:solidFill>
                    <a:srgbClr val="EFF1E8"/>
                  </a:solidFill>
                  <a:latin typeface="Poppins"/>
                  <a:ea typeface="Poppins"/>
                  <a:cs typeface="Poppins"/>
                  <a:sym typeface="Poppins"/>
                </a:rPr>
                <a:t>Model peak-period capactiy and resoruce needs</a:t>
              </a:r>
            </a:p>
          </p:txBody>
        </p:sp>
        <p:sp>
          <p:nvSpPr>
            <p:cNvPr name="TextBox 13" id="13"/>
            <p:cNvSpPr txBox="true"/>
            <p:nvPr/>
          </p:nvSpPr>
          <p:spPr>
            <a:xfrm rot="0">
              <a:off x="2002569" y="2482326"/>
              <a:ext cx="13121275" cy="544195"/>
            </a:xfrm>
            <a:prstGeom prst="rect">
              <a:avLst/>
            </a:prstGeom>
          </p:spPr>
          <p:txBody>
            <a:bodyPr anchor="t" rtlCol="false" tIns="0" lIns="0" bIns="0" rIns="0">
              <a:spAutoFit/>
            </a:bodyPr>
            <a:lstStyle/>
            <a:p>
              <a:pPr algn="ctr">
                <a:lnSpc>
                  <a:spcPts val="3359"/>
                </a:lnSpc>
                <a:spcBef>
                  <a:spcPct val="0"/>
                </a:spcBef>
              </a:pPr>
              <a:r>
                <a:rPr lang="en-US" sz="2400">
                  <a:solidFill>
                    <a:srgbClr val="EFF1E8"/>
                  </a:solidFill>
                  <a:latin typeface="Poppins"/>
                  <a:ea typeface="Poppins"/>
                  <a:cs typeface="Poppins"/>
                  <a:sym typeface="Poppins"/>
                </a:rPr>
                <a:t>Evaluate diagnositc and arrival patterns contributing to delays</a:t>
              </a:r>
            </a:p>
          </p:txBody>
        </p:sp>
        <p:sp>
          <p:nvSpPr>
            <p:cNvPr name="TextBox 14" id="14"/>
            <p:cNvSpPr txBox="true"/>
            <p:nvPr/>
          </p:nvSpPr>
          <p:spPr>
            <a:xfrm rot="0">
              <a:off x="2002569" y="3515294"/>
              <a:ext cx="13121275" cy="544195"/>
            </a:xfrm>
            <a:prstGeom prst="rect">
              <a:avLst/>
            </a:prstGeom>
          </p:spPr>
          <p:txBody>
            <a:bodyPr anchor="t" rtlCol="false" tIns="0" lIns="0" bIns="0" rIns="0">
              <a:spAutoFit/>
            </a:bodyPr>
            <a:lstStyle/>
            <a:p>
              <a:pPr algn="ctr">
                <a:lnSpc>
                  <a:spcPts val="3359"/>
                </a:lnSpc>
                <a:spcBef>
                  <a:spcPct val="0"/>
                </a:spcBef>
              </a:pPr>
              <a:r>
                <a:rPr lang="en-US" sz="2400">
                  <a:solidFill>
                    <a:srgbClr val="EFF1E8"/>
                  </a:solidFill>
                  <a:latin typeface="Poppins"/>
                  <a:ea typeface="Poppins"/>
                  <a:cs typeface="Poppins"/>
                  <a:sym typeface="Poppins"/>
                </a:rPr>
                <a:t>Map patient journey through the ER to identify friction points</a:t>
              </a:r>
            </a:p>
          </p:txBody>
        </p:sp>
      </p:grpSp>
      <p:sp>
        <p:nvSpPr>
          <p:cNvPr name="Freeform 15" id="15"/>
          <p:cNvSpPr/>
          <p:nvPr/>
        </p:nvSpPr>
        <p:spPr>
          <a:xfrm flipH="true" flipV="true" rot="0">
            <a:off x="16244064" y="1028700"/>
            <a:ext cx="1015236" cy="1015236"/>
          </a:xfrm>
          <a:custGeom>
            <a:avLst/>
            <a:gdLst/>
            <a:ahLst/>
            <a:cxnLst/>
            <a:rect r="r" b="b" t="t" l="l"/>
            <a:pathLst>
              <a:path h="1015236" w="1015236">
                <a:moveTo>
                  <a:pt x="1015236" y="1015236"/>
                </a:moveTo>
                <a:lnTo>
                  <a:pt x="0" y="1015236"/>
                </a:lnTo>
                <a:lnTo>
                  <a:pt x="0" y="0"/>
                </a:lnTo>
                <a:lnTo>
                  <a:pt x="1015236" y="0"/>
                </a:lnTo>
                <a:lnTo>
                  <a:pt x="1015236" y="101523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6" id="16"/>
          <p:cNvGrpSpPr/>
          <p:nvPr/>
        </p:nvGrpSpPr>
        <p:grpSpPr>
          <a:xfrm rot="0">
            <a:off x="2095473" y="3204770"/>
            <a:ext cx="14097053" cy="1844763"/>
            <a:chOff x="0" y="0"/>
            <a:chExt cx="18796071" cy="2459683"/>
          </a:xfrm>
        </p:grpSpPr>
        <p:grpSp>
          <p:nvGrpSpPr>
            <p:cNvPr name="Group 17" id="17"/>
            <p:cNvGrpSpPr/>
            <p:nvPr/>
          </p:nvGrpSpPr>
          <p:grpSpPr>
            <a:xfrm rot="0">
              <a:off x="0" y="0"/>
              <a:ext cx="18796071" cy="2459683"/>
              <a:chOff x="0" y="0"/>
              <a:chExt cx="3712804" cy="485863"/>
            </a:xfrm>
          </p:grpSpPr>
          <p:sp>
            <p:nvSpPr>
              <p:cNvPr name="Freeform 18" id="18"/>
              <p:cNvSpPr/>
              <p:nvPr/>
            </p:nvSpPr>
            <p:spPr>
              <a:xfrm flipH="false" flipV="false" rot="0">
                <a:off x="0" y="0"/>
                <a:ext cx="3712804" cy="485863"/>
              </a:xfrm>
              <a:custGeom>
                <a:avLst/>
                <a:gdLst/>
                <a:ahLst/>
                <a:cxnLst/>
                <a:rect r="r" b="b" t="t" l="l"/>
                <a:pathLst>
                  <a:path h="485863" w="3712804">
                    <a:moveTo>
                      <a:pt x="28009" y="0"/>
                    </a:moveTo>
                    <a:lnTo>
                      <a:pt x="3684796" y="0"/>
                    </a:lnTo>
                    <a:cubicBezTo>
                      <a:pt x="3692224" y="0"/>
                      <a:pt x="3699348" y="2951"/>
                      <a:pt x="3704601" y="8204"/>
                    </a:cubicBezTo>
                    <a:cubicBezTo>
                      <a:pt x="3709853" y="13456"/>
                      <a:pt x="3712804" y="20580"/>
                      <a:pt x="3712804" y="28009"/>
                    </a:cubicBezTo>
                    <a:lnTo>
                      <a:pt x="3712804" y="457855"/>
                    </a:lnTo>
                    <a:cubicBezTo>
                      <a:pt x="3712804" y="465283"/>
                      <a:pt x="3709853" y="472407"/>
                      <a:pt x="3704601" y="477660"/>
                    </a:cubicBezTo>
                    <a:cubicBezTo>
                      <a:pt x="3699348" y="482912"/>
                      <a:pt x="3692224" y="485863"/>
                      <a:pt x="3684796" y="485863"/>
                    </a:cubicBezTo>
                    <a:lnTo>
                      <a:pt x="28009" y="485863"/>
                    </a:lnTo>
                    <a:cubicBezTo>
                      <a:pt x="20580" y="485863"/>
                      <a:pt x="13456" y="482912"/>
                      <a:pt x="8204" y="477660"/>
                    </a:cubicBezTo>
                    <a:cubicBezTo>
                      <a:pt x="2951" y="472407"/>
                      <a:pt x="0" y="465283"/>
                      <a:pt x="0" y="457855"/>
                    </a:cubicBezTo>
                    <a:lnTo>
                      <a:pt x="0" y="28009"/>
                    </a:lnTo>
                    <a:cubicBezTo>
                      <a:pt x="0" y="20580"/>
                      <a:pt x="2951" y="13456"/>
                      <a:pt x="8204" y="8204"/>
                    </a:cubicBezTo>
                    <a:cubicBezTo>
                      <a:pt x="13456" y="2951"/>
                      <a:pt x="20580" y="0"/>
                      <a:pt x="28009" y="0"/>
                    </a:cubicBezTo>
                    <a:close/>
                  </a:path>
                </a:pathLst>
              </a:custGeom>
              <a:solidFill>
                <a:srgbClr val="343734"/>
              </a:solidFill>
            </p:spPr>
          </p:sp>
          <p:sp>
            <p:nvSpPr>
              <p:cNvPr name="TextBox 19" id="19"/>
              <p:cNvSpPr txBox="true"/>
              <p:nvPr/>
            </p:nvSpPr>
            <p:spPr>
              <a:xfrm>
                <a:off x="0" y="-38100"/>
                <a:ext cx="3712804" cy="523963"/>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307876" y="365606"/>
              <a:ext cx="18180320" cy="1661796"/>
            </a:xfrm>
            <a:prstGeom prst="rect">
              <a:avLst/>
            </a:prstGeom>
          </p:spPr>
          <p:txBody>
            <a:bodyPr anchor="t" rtlCol="false" tIns="0" lIns="0" bIns="0" rIns="0">
              <a:spAutoFit/>
            </a:bodyPr>
            <a:lstStyle/>
            <a:p>
              <a:pPr algn="l">
                <a:lnSpc>
                  <a:spcPts val="3359"/>
                </a:lnSpc>
                <a:spcBef>
                  <a:spcPct val="0"/>
                </a:spcBef>
              </a:pPr>
              <a:r>
                <a:rPr lang="en-US" sz="2399">
                  <a:solidFill>
                    <a:srgbClr val="EFF1E8"/>
                  </a:solidFill>
                  <a:latin typeface="Poppins"/>
                  <a:ea typeface="Poppins"/>
                  <a:cs typeface="Poppins"/>
                  <a:sym typeface="Poppins"/>
                </a:rPr>
                <a:t>Whi</a:t>
              </a:r>
              <a:r>
                <a:rPr lang="en-US" sz="2399">
                  <a:solidFill>
                    <a:srgbClr val="EFF1E8"/>
                  </a:solidFill>
                  <a:latin typeface="Poppins"/>
                  <a:ea typeface="Poppins"/>
                  <a:cs typeface="Poppins"/>
                  <a:sym typeface="Poppins"/>
                </a:rPr>
                <a:t>le deeper investigation will refine the picture, these findings already give stakeholders clear direction for taking action on peak‑period capacity, staffing alignment, and patient flow.</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3059161" y="-353316"/>
            <a:ext cx="5954157" cy="11239916"/>
            <a:chOff x="0" y="0"/>
            <a:chExt cx="1568173" cy="2960307"/>
          </a:xfrm>
        </p:grpSpPr>
        <p:sp>
          <p:nvSpPr>
            <p:cNvPr name="Freeform 3" id="3"/>
            <p:cNvSpPr/>
            <p:nvPr/>
          </p:nvSpPr>
          <p:spPr>
            <a:xfrm flipH="false" flipV="false" rot="0">
              <a:off x="0" y="0"/>
              <a:ext cx="1568173" cy="2960307"/>
            </a:xfrm>
            <a:custGeom>
              <a:avLst/>
              <a:gdLst/>
              <a:ahLst/>
              <a:cxnLst/>
              <a:rect r="r" b="b" t="t" l="l"/>
              <a:pathLst>
                <a:path h="2960307" w="1568173">
                  <a:moveTo>
                    <a:pt x="0" y="0"/>
                  </a:moveTo>
                  <a:lnTo>
                    <a:pt x="1568173" y="0"/>
                  </a:lnTo>
                  <a:lnTo>
                    <a:pt x="1568173" y="2960307"/>
                  </a:lnTo>
                  <a:lnTo>
                    <a:pt x="0" y="2960307"/>
                  </a:lnTo>
                  <a:close/>
                </a:path>
              </a:pathLst>
            </a:custGeom>
            <a:solidFill>
              <a:srgbClr val="EFF1E8"/>
            </a:solidFill>
          </p:spPr>
        </p:sp>
        <p:sp>
          <p:nvSpPr>
            <p:cNvPr name="TextBox 4" id="4"/>
            <p:cNvSpPr txBox="true"/>
            <p:nvPr/>
          </p:nvSpPr>
          <p:spPr>
            <a:xfrm>
              <a:off x="0" y="-57150"/>
              <a:ext cx="1568173" cy="3017457"/>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028700" y="6081770"/>
            <a:ext cx="7613364" cy="576205"/>
            <a:chOff x="0" y="0"/>
            <a:chExt cx="2005166" cy="151758"/>
          </a:xfrm>
        </p:grpSpPr>
        <p:sp>
          <p:nvSpPr>
            <p:cNvPr name="Freeform 6" id="6"/>
            <p:cNvSpPr/>
            <p:nvPr/>
          </p:nvSpPr>
          <p:spPr>
            <a:xfrm flipH="false" flipV="false" rot="0">
              <a:off x="0" y="0"/>
              <a:ext cx="2005166" cy="151758"/>
            </a:xfrm>
            <a:custGeom>
              <a:avLst/>
              <a:gdLst/>
              <a:ahLst/>
              <a:cxnLst/>
              <a:rect r="r" b="b" t="t" l="l"/>
              <a:pathLst>
                <a:path h="151758" w="2005166">
                  <a:moveTo>
                    <a:pt x="0" y="0"/>
                  </a:moveTo>
                  <a:lnTo>
                    <a:pt x="2005166" y="0"/>
                  </a:lnTo>
                  <a:lnTo>
                    <a:pt x="2005166" y="151758"/>
                  </a:lnTo>
                  <a:lnTo>
                    <a:pt x="0" y="151758"/>
                  </a:lnTo>
                  <a:close/>
                </a:path>
              </a:pathLst>
            </a:custGeom>
            <a:ln w="38100" cap="sq">
              <a:solidFill>
                <a:srgbClr val="EFF1E8"/>
              </a:solidFill>
              <a:prstDash val="solid"/>
              <a:miter/>
            </a:ln>
          </p:spPr>
        </p:sp>
        <p:sp>
          <p:nvSpPr>
            <p:cNvPr name="TextBox 7" id="7"/>
            <p:cNvSpPr txBox="true"/>
            <p:nvPr/>
          </p:nvSpPr>
          <p:spPr>
            <a:xfrm>
              <a:off x="0" y="-57150"/>
              <a:ext cx="2005166" cy="208908"/>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1028700" y="8622875"/>
            <a:ext cx="635425" cy="635425"/>
          </a:xfrm>
          <a:custGeom>
            <a:avLst/>
            <a:gdLst/>
            <a:ahLst/>
            <a:cxnLst/>
            <a:rect r="r" b="b" t="t" l="l"/>
            <a:pathLst>
              <a:path h="635425" w="635425">
                <a:moveTo>
                  <a:pt x="0" y="0"/>
                </a:moveTo>
                <a:lnTo>
                  <a:pt x="635425" y="0"/>
                </a:lnTo>
                <a:lnTo>
                  <a:pt x="635425" y="635425"/>
                </a:lnTo>
                <a:lnTo>
                  <a:pt x="0" y="6354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154518" y="1861724"/>
            <a:ext cx="6109267" cy="6202301"/>
          </a:xfrm>
          <a:custGeom>
            <a:avLst/>
            <a:gdLst/>
            <a:ahLst/>
            <a:cxnLst/>
            <a:rect r="r" b="b" t="t" l="l"/>
            <a:pathLst>
              <a:path h="6202301" w="6109267">
                <a:moveTo>
                  <a:pt x="0" y="0"/>
                </a:moveTo>
                <a:lnTo>
                  <a:pt x="6109267" y="0"/>
                </a:lnTo>
                <a:lnTo>
                  <a:pt x="6109267" y="6202301"/>
                </a:lnTo>
                <a:lnTo>
                  <a:pt x="0" y="6202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104940" y="5352367"/>
            <a:ext cx="1018486" cy="870806"/>
          </a:xfrm>
          <a:custGeom>
            <a:avLst/>
            <a:gdLst/>
            <a:ahLst/>
            <a:cxnLst/>
            <a:rect r="r" b="b" t="t" l="l"/>
            <a:pathLst>
              <a:path h="870806" w="1018486">
                <a:moveTo>
                  <a:pt x="0" y="0"/>
                </a:moveTo>
                <a:lnTo>
                  <a:pt x="1018486" y="0"/>
                </a:lnTo>
                <a:lnTo>
                  <a:pt x="1018486" y="870806"/>
                </a:lnTo>
                <a:lnTo>
                  <a:pt x="0" y="8708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028700" y="721876"/>
            <a:ext cx="10020426" cy="5388469"/>
          </a:xfrm>
          <a:prstGeom prst="rect">
            <a:avLst/>
          </a:prstGeom>
        </p:spPr>
        <p:txBody>
          <a:bodyPr anchor="t" rtlCol="false" tIns="0" lIns="0" bIns="0" rIns="0">
            <a:spAutoFit/>
          </a:bodyPr>
          <a:lstStyle/>
          <a:p>
            <a:pPr algn="l">
              <a:lnSpc>
                <a:spcPts val="20857"/>
              </a:lnSpc>
            </a:pPr>
            <a:r>
              <a:rPr lang="en-US" sz="19864" b="true">
                <a:solidFill>
                  <a:srgbClr val="EFF1E8"/>
                </a:solidFill>
                <a:latin typeface="Montserrat Bold"/>
                <a:ea typeface="Montserrat Bold"/>
                <a:cs typeface="Montserrat Bold"/>
                <a:sym typeface="Montserrat Bold"/>
              </a:rPr>
              <a:t>Th</a:t>
            </a:r>
            <a:r>
              <a:rPr lang="en-US" b="true" sz="19864">
                <a:solidFill>
                  <a:srgbClr val="EFF1E8"/>
                </a:solidFill>
                <a:latin typeface="Montserrat Bold"/>
                <a:ea typeface="Montserrat Bold"/>
                <a:cs typeface="Montserrat Bold"/>
                <a:sym typeface="Montserrat Bold"/>
              </a:rPr>
              <a:t>ank You</a:t>
            </a:r>
          </a:p>
        </p:txBody>
      </p:sp>
      <p:sp>
        <p:nvSpPr>
          <p:cNvPr name="TextBox 12" id="12"/>
          <p:cNvSpPr txBox="true"/>
          <p:nvPr/>
        </p:nvSpPr>
        <p:spPr>
          <a:xfrm rot="0">
            <a:off x="571812" y="6124140"/>
            <a:ext cx="8227076" cy="424815"/>
          </a:xfrm>
          <a:prstGeom prst="rect">
            <a:avLst/>
          </a:prstGeom>
        </p:spPr>
        <p:txBody>
          <a:bodyPr anchor="t" rtlCol="false" tIns="0" lIns="0" bIns="0" rIns="0">
            <a:spAutoFit/>
          </a:bodyPr>
          <a:lstStyle/>
          <a:p>
            <a:pPr algn="ctr">
              <a:lnSpc>
                <a:spcPts val="3359"/>
              </a:lnSpc>
              <a:spcBef>
                <a:spcPct val="0"/>
              </a:spcBef>
            </a:pPr>
            <a:r>
              <a:rPr lang="en-US" sz="2400" spc="297">
                <a:solidFill>
                  <a:srgbClr val="EFF1E8"/>
                </a:solidFill>
                <a:latin typeface="Poppins"/>
                <a:ea typeface="Poppins"/>
                <a:cs typeface="Poppins"/>
                <a:sym typeface="Poppins"/>
              </a:rPr>
              <a:t>Let’s build smarter decisions together</a:t>
            </a:r>
          </a:p>
        </p:txBody>
      </p:sp>
      <p:sp>
        <p:nvSpPr>
          <p:cNvPr name="TextBox 13" id="13"/>
          <p:cNvSpPr txBox="true"/>
          <p:nvPr/>
        </p:nvSpPr>
        <p:spPr>
          <a:xfrm rot="0">
            <a:off x="1028700" y="7921982"/>
            <a:ext cx="5282524" cy="35877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nrafael@gmail.com</a:t>
            </a:r>
          </a:p>
        </p:txBody>
      </p:sp>
      <p:sp>
        <p:nvSpPr>
          <p:cNvPr name="TextBox 14" id="14"/>
          <p:cNvSpPr txBox="true"/>
          <p:nvPr/>
        </p:nvSpPr>
        <p:spPr>
          <a:xfrm rot="0">
            <a:off x="1028700" y="6976771"/>
            <a:ext cx="5282524" cy="358775"/>
          </a:xfrm>
          <a:prstGeom prst="rect">
            <a:avLst/>
          </a:prstGeom>
        </p:spPr>
        <p:txBody>
          <a:bodyPr anchor="t" rtlCol="false" tIns="0" lIns="0" bIns="0" rIns="0">
            <a:spAutoFit/>
          </a:bodyPr>
          <a:lstStyle/>
          <a:p>
            <a:pPr algn="l">
              <a:lnSpc>
                <a:spcPts val="2799"/>
              </a:lnSpc>
              <a:spcBef>
                <a:spcPct val="0"/>
              </a:spcBef>
            </a:pPr>
            <a:r>
              <a:rPr lang="en-US" sz="1999" u="sng">
                <a:solidFill>
                  <a:srgbClr val="EFF1E8"/>
                </a:solidFill>
                <a:latin typeface="Poppins"/>
                <a:ea typeface="Poppins"/>
                <a:cs typeface="Poppins"/>
                <a:sym typeface="Poppins"/>
                <a:hlinkClick r:id="rId8" tooltip="https://github.com/oxturtle/nicosys-portfolio-ecom"/>
              </a:rPr>
              <a:t>GitHub</a:t>
            </a:r>
          </a:p>
        </p:txBody>
      </p:sp>
      <p:sp>
        <p:nvSpPr>
          <p:cNvPr name="TextBox 15" id="15"/>
          <p:cNvSpPr txBox="true"/>
          <p:nvPr/>
        </p:nvSpPr>
        <p:spPr>
          <a:xfrm rot="0">
            <a:off x="1028700" y="7449377"/>
            <a:ext cx="5282524" cy="358775"/>
          </a:xfrm>
          <a:prstGeom prst="rect">
            <a:avLst/>
          </a:prstGeom>
        </p:spPr>
        <p:txBody>
          <a:bodyPr anchor="t" rtlCol="false" tIns="0" lIns="0" bIns="0" rIns="0">
            <a:spAutoFit/>
          </a:bodyPr>
          <a:lstStyle/>
          <a:p>
            <a:pPr algn="l">
              <a:lnSpc>
                <a:spcPts val="2799"/>
              </a:lnSpc>
              <a:spcBef>
                <a:spcPct val="0"/>
              </a:spcBef>
            </a:pPr>
            <a:r>
              <a:rPr lang="en-US" sz="1999" u="sng">
                <a:solidFill>
                  <a:srgbClr val="EFF1E8"/>
                </a:solidFill>
                <a:latin typeface="Poppins"/>
                <a:ea typeface="Poppins"/>
                <a:cs typeface="Poppins"/>
                <a:sym typeface="Poppins"/>
                <a:hlinkClick r:id="rId9" tooltip="https://www.linkedin.com/in/nrafael/"/>
              </a:rPr>
              <a:t>LinkedIn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DAHRrke5SZo</dc:identifier>
  <dcterms:modified xsi:type="dcterms:W3CDTF">2011-08-01T06:04:30Z</dcterms:modified>
  <cp:revision>1</cp:revision>
  <dc:title>Emergency Department Wait-Time Analysis</dc:title>
</cp:coreProperties>
</file>